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59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978025"/>
            <a:ext cx="893889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4875" y="2673350"/>
            <a:ext cx="6334125" cy="106086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lang="en-US" dirty="0"/>
              <a:t>Memory Usage Profiler &amp; Leak Detector</a:t>
            </a:r>
            <a:endParaRPr spc="-305" dirty="0"/>
          </a:p>
        </p:txBody>
      </p:sp>
      <p:grpSp>
        <p:nvGrpSpPr>
          <p:cNvPr id="3" name="object 3"/>
          <p:cNvGrpSpPr/>
          <p:nvPr/>
        </p:nvGrpSpPr>
        <p:grpSpPr>
          <a:xfrm>
            <a:off x="9554859" y="5803849"/>
            <a:ext cx="1779905" cy="568960"/>
            <a:chOff x="9554859" y="5803849"/>
            <a:chExt cx="1779905" cy="568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63100" y="5812090"/>
              <a:ext cx="1714500" cy="552450"/>
            </a:xfrm>
            <a:custGeom>
              <a:avLst/>
              <a:gdLst/>
              <a:ahLst/>
              <a:cxnLst/>
              <a:rect l="l" t="t" r="r" b="b"/>
              <a:pathLst>
                <a:path w="1714500" h="552450">
                  <a:moveTo>
                    <a:pt x="1714088" y="0"/>
                  </a:moveTo>
                  <a:lnTo>
                    <a:pt x="0" y="0"/>
                  </a:lnTo>
                  <a:lnTo>
                    <a:pt x="0" y="552134"/>
                  </a:lnTo>
                  <a:lnTo>
                    <a:pt x="1714088" y="552134"/>
                  </a:lnTo>
                  <a:lnTo>
                    <a:pt x="1714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63100" y="5812090"/>
              <a:ext cx="1714500" cy="552450"/>
            </a:xfrm>
            <a:custGeom>
              <a:avLst/>
              <a:gdLst/>
              <a:ahLst/>
              <a:cxnLst/>
              <a:rect l="l" t="t" r="r" b="b"/>
              <a:pathLst>
                <a:path w="1714500" h="552450">
                  <a:moveTo>
                    <a:pt x="0" y="552134"/>
                  </a:moveTo>
                  <a:lnTo>
                    <a:pt x="1714088" y="552134"/>
                  </a:lnTo>
                  <a:lnTo>
                    <a:pt x="1714088" y="0"/>
                  </a:lnTo>
                  <a:lnTo>
                    <a:pt x="0" y="0"/>
                  </a:lnTo>
                  <a:lnTo>
                    <a:pt x="0" y="552134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2D51-3D1A-2501-F9C2-A336BF8F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1978025"/>
            <a:ext cx="8938895" cy="1723549"/>
          </a:xfrm>
        </p:spPr>
        <p:txBody>
          <a:bodyPr/>
          <a:lstStyle/>
          <a:p>
            <a:r>
              <a:rPr lang="en-US" sz="2800" dirty="0"/>
              <a:t>Kaushik – 2420030422</a:t>
            </a:r>
            <a:br>
              <a:rPr lang="en-US" sz="2800" dirty="0"/>
            </a:br>
            <a:r>
              <a:rPr lang="en-US" sz="2800" dirty="0" err="1"/>
              <a:t>Rishiwan</a:t>
            </a:r>
            <a:r>
              <a:rPr lang="en-US" sz="2800" dirty="0"/>
              <a:t> – 2420030762</a:t>
            </a:r>
            <a:br>
              <a:rPr lang="en-US" sz="2800" dirty="0"/>
            </a:br>
            <a:r>
              <a:rPr lang="en-US" sz="2800" dirty="0"/>
              <a:t>Ritheesh – 2420030761</a:t>
            </a:r>
            <a:br>
              <a:rPr lang="en-US" sz="2800" dirty="0"/>
            </a:br>
            <a:r>
              <a:rPr lang="en-US" sz="2800" dirty="0"/>
              <a:t>Dhanush - 2420090042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EE7C-5438-1891-5816-D963CF98E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708025"/>
            <a:ext cx="10287000" cy="1231106"/>
          </a:xfrm>
        </p:spPr>
        <p:txBody>
          <a:bodyPr/>
          <a:lstStyle/>
          <a:p>
            <a:r>
              <a:rPr lang="en-IN" sz="4000" dirty="0"/>
              <a:t>OS Hackathon 2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4384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80" dirty="0"/>
              <a:t>The</a:t>
            </a:r>
            <a:r>
              <a:rPr spc="-360" dirty="0"/>
              <a:t> </a:t>
            </a:r>
            <a:r>
              <a:rPr spc="-245" dirty="0"/>
              <a:t>Silent</a:t>
            </a:r>
            <a:r>
              <a:rPr spc="-360" dirty="0"/>
              <a:t> </a:t>
            </a:r>
            <a:r>
              <a:rPr spc="-300" dirty="0"/>
              <a:t>Killer:</a:t>
            </a:r>
            <a:r>
              <a:rPr spc="-360" dirty="0"/>
              <a:t> </a:t>
            </a:r>
            <a:r>
              <a:rPr spc="-125" dirty="0"/>
              <a:t>Why</a:t>
            </a:r>
            <a:r>
              <a:rPr spc="-360" dirty="0"/>
              <a:t> </a:t>
            </a:r>
            <a:r>
              <a:rPr spc="-195" dirty="0"/>
              <a:t>Memory</a:t>
            </a:r>
            <a:r>
              <a:rPr spc="-355" dirty="0"/>
              <a:t> </a:t>
            </a:r>
            <a:r>
              <a:rPr spc="-295" dirty="0"/>
              <a:t>Leaks</a:t>
            </a:r>
            <a:r>
              <a:rPr spc="-360" dirty="0"/>
              <a:t> </a:t>
            </a:r>
            <a:r>
              <a:rPr spc="-105" dirty="0"/>
              <a:t>Matter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5" y="2867024"/>
            <a:ext cx="3314700" cy="1581150"/>
            <a:chOff x="581025" y="2867024"/>
            <a:chExt cx="3314700" cy="1581150"/>
          </a:xfrm>
        </p:grpSpPr>
        <p:sp>
          <p:nvSpPr>
            <p:cNvPr id="4" name="object 4"/>
            <p:cNvSpPr/>
            <p:nvPr/>
          </p:nvSpPr>
          <p:spPr>
            <a:xfrm>
              <a:off x="6009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92" y="1519821"/>
                  </a:lnTo>
                  <a:lnTo>
                    <a:pt x="0" y="1515706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10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9" y="1560791"/>
                  </a:lnTo>
                  <a:lnTo>
                    <a:pt x="52163" y="1580769"/>
                  </a:lnTo>
                  <a:lnTo>
                    <a:pt x="56067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5025" y="3049587"/>
            <a:ext cx="257492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1650" spc="-114" dirty="0">
                <a:solidFill>
                  <a:srgbClr val="51586B"/>
                </a:solidFill>
                <a:latin typeface="Arial Black"/>
                <a:cs typeface="Arial Black"/>
              </a:rPr>
              <a:t>Undetectable</a:t>
            </a:r>
            <a:r>
              <a:rPr sz="1650" spc="-12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70" dirty="0">
                <a:solidFill>
                  <a:srgbClr val="51586B"/>
                </a:solidFill>
                <a:latin typeface="Arial Black"/>
                <a:cs typeface="Arial Black"/>
              </a:rPr>
              <a:t>at</a:t>
            </a:r>
            <a:r>
              <a:rPr sz="1650" spc="-12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51586B"/>
                </a:solidFill>
                <a:latin typeface="Arial Black"/>
                <a:cs typeface="Arial Black"/>
              </a:rPr>
              <a:t>First</a:t>
            </a:r>
            <a:endParaRPr sz="1650">
              <a:latin typeface="Arial Black"/>
              <a:cs typeface="Arial Black"/>
            </a:endParaRPr>
          </a:p>
          <a:p>
            <a:pPr marL="12700" marR="5080" algn="just">
              <a:lnSpc>
                <a:spcPct val="134300"/>
              </a:lnSpc>
              <a:spcBef>
                <a:spcPts val="465"/>
              </a:spcBef>
            </a:pP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Manifest</a:t>
            </a:r>
            <a:r>
              <a:rPr sz="1350" spc="-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15" dirty="0">
                <a:solidFill>
                  <a:srgbClr val="51586B"/>
                </a:solidFill>
                <a:latin typeface="Verdana"/>
                <a:cs typeface="Verdana"/>
              </a:rPr>
              <a:t>as</a:t>
            </a:r>
            <a:r>
              <a:rPr sz="1350" spc="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slow</a:t>
            </a:r>
            <a:r>
              <a:rPr sz="1350" spc="4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sz="1350" spc="4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climbs,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frequent</a:t>
            </a:r>
            <a:r>
              <a:rPr sz="1350" spc="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restarts,</a:t>
            </a:r>
            <a:r>
              <a:rPr sz="1350" spc="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gradual</a:t>
            </a:r>
            <a:r>
              <a:rPr sz="1350" spc="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latency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increases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48125" y="2867024"/>
            <a:ext cx="3314700" cy="1581150"/>
            <a:chOff x="4048125" y="2867024"/>
            <a:chExt cx="3314700" cy="1581150"/>
          </a:xfrm>
        </p:grpSpPr>
        <p:sp>
          <p:nvSpPr>
            <p:cNvPr id="8" name="object 8"/>
            <p:cNvSpPr/>
            <p:nvPr/>
          </p:nvSpPr>
          <p:spPr>
            <a:xfrm>
              <a:off x="40680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481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02125" y="3049587"/>
            <a:ext cx="266700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90" dirty="0">
                <a:solidFill>
                  <a:srgbClr val="51586B"/>
                </a:solidFill>
                <a:latin typeface="Arial Black"/>
                <a:cs typeface="Arial Black"/>
              </a:rPr>
              <a:t>Costly</a:t>
            </a:r>
            <a:r>
              <a:rPr sz="1650" spc="-15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Impact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Performance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degraded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before </a:t>
            </a:r>
            <a:r>
              <a:rPr sz="1350" spc="-35" dirty="0">
                <a:solidFill>
                  <a:srgbClr val="51586B"/>
                </a:solidFill>
                <a:latin typeface="Verdana"/>
                <a:cs typeface="Verdana"/>
              </a:rPr>
              <a:t>detection4leads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downtime </a:t>
            </a:r>
            <a:r>
              <a:rPr sz="1350" spc="-55" dirty="0">
                <a:solidFill>
                  <a:srgbClr val="51586B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poor</a:t>
            </a:r>
            <a:r>
              <a:rPr sz="1350" spc="-12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1586B"/>
                </a:solidFill>
                <a:latin typeface="Verdana"/>
                <a:cs typeface="Verdana"/>
              </a:rPr>
              <a:t>UX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15225" y="2867024"/>
            <a:ext cx="3314700" cy="1581150"/>
            <a:chOff x="7515225" y="2867024"/>
            <a:chExt cx="3314700" cy="1581150"/>
          </a:xfrm>
        </p:grpSpPr>
        <p:sp>
          <p:nvSpPr>
            <p:cNvPr id="12" name="object 12"/>
            <p:cNvSpPr/>
            <p:nvPr/>
          </p:nvSpPr>
          <p:spPr>
            <a:xfrm>
              <a:off x="75351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152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69225" y="3049587"/>
            <a:ext cx="267081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51586B"/>
                </a:solidFill>
                <a:latin typeface="Arial Black"/>
                <a:cs typeface="Arial Black"/>
              </a:rPr>
              <a:t>Garbage</a:t>
            </a:r>
            <a:r>
              <a:rPr sz="1650" spc="-13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Collection</a:t>
            </a:r>
            <a:r>
              <a:rPr sz="1650" spc="-13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85" dirty="0">
                <a:solidFill>
                  <a:srgbClr val="51586B"/>
                </a:solidFill>
                <a:latin typeface="Arial Black"/>
                <a:cs typeface="Arial Black"/>
              </a:rPr>
              <a:t>Traps</a:t>
            </a:r>
            <a:endParaRPr sz="1650">
              <a:latin typeface="Arial Black"/>
              <a:cs typeface="Arial Black"/>
            </a:endParaRPr>
          </a:p>
          <a:p>
            <a:pPr marL="12700" marR="170815">
              <a:lnSpc>
                <a:spcPct val="134300"/>
              </a:lnSpc>
              <a:spcBef>
                <a:spcPts val="465"/>
              </a:spcBef>
            </a:pP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remain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reachable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1586B"/>
                </a:solidFill>
                <a:latin typeface="Verdana"/>
                <a:cs typeface="Verdana"/>
              </a:rPr>
              <a:t>via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unintended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references,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1586B"/>
                </a:solidFill>
                <a:latin typeface="Verdana"/>
                <a:cs typeface="Verdana"/>
              </a:rPr>
              <a:t>blocking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reclamation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27859" y="5720763"/>
            <a:ext cx="1906905" cy="626745"/>
            <a:chOff x="9427859" y="5720763"/>
            <a:chExt cx="1906905" cy="6267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36100" y="5729004"/>
              <a:ext cx="1854200" cy="610235"/>
            </a:xfrm>
            <a:custGeom>
              <a:avLst/>
              <a:gdLst/>
              <a:ahLst/>
              <a:cxnLst/>
              <a:rect l="l" t="t" r="r" b="b"/>
              <a:pathLst>
                <a:path w="1854200" h="610235">
                  <a:moveTo>
                    <a:pt x="1854181" y="0"/>
                  </a:moveTo>
                  <a:lnTo>
                    <a:pt x="0" y="0"/>
                  </a:lnTo>
                  <a:lnTo>
                    <a:pt x="0" y="609819"/>
                  </a:lnTo>
                  <a:lnTo>
                    <a:pt x="1854181" y="609819"/>
                  </a:lnTo>
                  <a:lnTo>
                    <a:pt x="18541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36100" y="5729004"/>
              <a:ext cx="1854200" cy="610235"/>
            </a:xfrm>
            <a:custGeom>
              <a:avLst/>
              <a:gdLst/>
              <a:ahLst/>
              <a:cxnLst/>
              <a:rect l="l" t="t" r="r" b="b"/>
              <a:pathLst>
                <a:path w="1854200" h="610235">
                  <a:moveTo>
                    <a:pt x="0" y="609819"/>
                  </a:moveTo>
                  <a:lnTo>
                    <a:pt x="1854181" y="609819"/>
                  </a:lnTo>
                  <a:lnTo>
                    <a:pt x="1854181" y="0"/>
                  </a:lnTo>
                  <a:lnTo>
                    <a:pt x="0" y="0"/>
                  </a:lnTo>
                  <a:lnTo>
                    <a:pt x="0" y="609819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4875" y="1216025"/>
            <a:ext cx="727837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210" dirty="0"/>
              <a:t>Understanding</a:t>
            </a:r>
            <a:r>
              <a:rPr spc="-340" dirty="0"/>
              <a:t> </a:t>
            </a:r>
            <a:r>
              <a:rPr spc="-229" dirty="0"/>
              <a:t>the</a:t>
            </a:r>
            <a:r>
              <a:rPr spc="-340" dirty="0"/>
              <a:t> </a:t>
            </a:r>
            <a:r>
              <a:rPr spc="-204" dirty="0"/>
              <a:t>V8</a:t>
            </a:r>
            <a:r>
              <a:rPr spc="-340" dirty="0"/>
              <a:t> </a:t>
            </a:r>
            <a:r>
              <a:rPr spc="-250" dirty="0"/>
              <a:t>Heap:</a:t>
            </a:r>
            <a:r>
              <a:rPr spc="-340" dirty="0"/>
              <a:t> </a:t>
            </a:r>
            <a:r>
              <a:rPr spc="-155" dirty="0"/>
              <a:t>Where </a:t>
            </a:r>
            <a:r>
              <a:rPr spc="-295" dirty="0"/>
              <a:t>Leaks</a:t>
            </a:r>
            <a:r>
              <a:rPr spc="-375" dirty="0"/>
              <a:t> </a:t>
            </a:r>
            <a:r>
              <a:rPr spc="-315" dirty="0"/>
              <a:t>Live</a:t>
            </a:r>
          </a:p>
        </p:txBody>
      </p:sp>
      <p:sp>
        <p:nvSpPr>
          <p:cNvPr id="4" name="object 4"/>
          <p:cNvSpPr/>
          <p:nvPr/>
        </p:nvSpPr>
        <p:spPr>
          <a:xfrm>
            <a:off x="3486150" y="4010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6150" y="4619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86150" y="4953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44875" y="2754312"/>
            <a:ext cx="3497579" cy="2331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0" dirty="0">
                <a:solidFill>
                  <a:srgbClr val="373B48"/>
                </a:solidFill>
                <a:latin typeface="Arial Black"/>
                <a:cs typeface="Arial Black"/>
              </a:rPr>
              <a:t>Memory</a:t>
            </a:r>
            <a:r>
              <a:rPr sz="1650" spc="-130" dirty="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sz="1650" spc="-30" dirty="0">
                <a:solidFill>
                  <a:srgbClr val="373B48"/>
                </a:solidFill>
                <a:latin typeface="Arial Black"/>
                <a:cs typeface="Arial Black"/>
              </a:rPr>
              <a:t>Architecture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V8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engine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manages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Node.js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memory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through 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distinct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spaces</a:t>
            </a:r>
            <a:endParaRPr sz="1350">
              <a:latin typeface="Verdana"/>
              <a:cs typeface="Verdana"/>
            </a:endParaRPr>
          </a:p>
          <a:p>
            <a:pPr marL="286385" marR="502920">
              <a:lnSpc>
                <a:spcPct val="129600"/>
              </a:lnSpc>
              <a:spcBef>
                <a:spcPts val="1275"/>
              </a:spcBef>
            </a:pPr>
            <a:r>
              <a:rPr sz="1350" spc="-120" dirty="0">
                <a:solidFill>
                  <a:srgbClr val="51586B"/>
                </a:solidFill>
                <a:latin typeface="Verdana"/>
                <a:cs typeface="Verdana"/>
              </a:rPr>
              <a:t>Heap: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New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Space,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Old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Space,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1586B"/>
                </a:solidFill>
                <a:latin typeface="Verdana"/>
                <a:cs typeface="Verdana"/>
              </a:rPr>
              <a:t>Code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Space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Large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Object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1586B"/>
                </a:solidFill>
                <a:latin typeface="Verdana"/>
                <a:cs typeface="Verdana"/>
              </a:rPr>
              <a:t>Space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Stack</a:t>
            </a:r>
            <a:r>
              <a:rPr sz="1350" spc="-1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External</a:t>
            </a:r>
            <a:r>
              <a:rPr sz="1350" spc="-12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9680" y="2754312"/>
            <a:ext cx="3489960" cy="1655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373B48"/>
                </a:solidFill>
                <a:latin typeface="Arial Black"/>
                <a:cs typeface="Arial Black"/>
              </a:rPr>
              <a:t>Old</a:t>
            </a:r>
            <a:r>
              <a:rPr sz="1650" spc="-145" dirty="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sz="1650" spc="-95" dirty="0">
                <a:solidFill>
                  <a:srgbClr val="373B48"/>
                </a:solidFill>
                <a:latin typeface="Arial Black"/>
                <a:cs typeface="Arial Black"/>
              </a:rPr>
              <a:t>Space</a:t>
            </a:r>
            <a:r>
              <a:rPr sz="1650" spc="-145" dirty="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sz="1650" spc="-80" dirty="0">
                <a:solidFill>
                  <a:srgbClr val="373B48"/>
                </a:solidFill>
                <a:latin typeface="Arial Black"/>
                <a:cs typeface="Arial Black"/>
              </a:rPr>
              <a:t>Danger</a:t>
            </a:r>
            <a:r>
              <a:rPr sz="1650" spc="-140" dirty="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373B48"/>
                </a:solidFill>
                <a:latin typeface="Arial Black"/>
                <a:cs typeface="Arial Black"/>
              </a:rPr>
              <a:t>Zone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Objects surviving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multiple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garbage </a:t>
            </a:r>
            <a:r>
              <a:rPr sz="1350" spc="-40" dirty="0">
                <a:solidFill>
                  <a:srgbClr val="51586B"/>
                </a:solidFill>
                <a:latin typeface="Verdana"/>
                <a:cs typeface="Verdana"/>
              </a:rPr>
              <a:t>collection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cycles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get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promoted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1586B"/>
                </a:solidFill>
                <a:latin typeface="Verdana"/>
                <a:cs typeface="Verdana"/>
              </a:rPr>
              <a:t>here</a:t>
            </a:r>
            <a:endParaRPr sz="1350">
              <a:latin typeface="Verdana"/>
              <a:cs typeface="Verdana"/>
            </a:endParaRPr>
          </a:p>
          <a:p>
            <a:pPr marL="12700" marR="326390">
              <a:lnSpc>
                <a:spcPct val="129600"/>
              </a:lnSpc>
              <a:spcBef>
                <a:spcPts val="1275"/>
              </a:spcBef>
            </a:pPr>
            <a:r>
              <a:rPr sz="1350" b="1" spc="-70" dirty="0">
                <a:solidFill>
                  <a:srgbClr val="373B48"/>
                </a:solidFill>
                <a:latin typeface="Tahoma"/>
                <a:cs typeface="Tahoma"/>
              </a:rPr>
              <a:t>Red</a:t>
            </a:r>
            <a:r>
              <a:rPr sz="1350" b="1" spc="-45" dirty="0">
                <a:solidFill>
                  <a:srgbClr val="373B48"/>
                </a:solidFill>
                <a:latin typeface="Tahoma"/>
                <a:cs typeface="Tahoma"/>
              </a:rPr>
              <a:t> </a:t>
            </a:r>
            <a:r>
              <a:rPr sz="1350" b="1" spc="-85" dirty="0">
                <a:solidFill>
                  <a:srgbClr val="373B48"/>
                </a:solidFill>
                <a:latin typeface="Tahoma"/>
                <a:cs typeface="Tahoma"/>
              </a:rPr>
              <a:t>flag:</a:t>
            </a:r>
            <a:r>
              <a:rPr sz="1350" b="1" spc="-20" dirty="0">
                <a:solidFill>
                  <a:srgbClr val="373B48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heapUsed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grows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monotonically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without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plateau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00859" y="5713200"/>
            <a:ext cx="2033905" cy="659765"/>
            <a:chOff x="9300859" y="5713200"/>
            <a:chExt cx="2033905" cy="6597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309100" y="5721440"/>
              <a:ext cx="2011045" cy="643255"/>
            </a:xfrm>
            <a:custGeom>
              <a:avLst/>
              <a:gdLst/>
              <a:ahLst/>
              <a:cxnLst/>
              <a:rect l="l" t="t" r="r" b="b"/>
              <a:pathLst>
                <a:path w="2011045" h="643254">
                  <a:moveTo>
                    <a:pt x="2010757" y="0"/>
                  </a:moveTo>
                  <a:lnTo>
                    <a:pt x="0" y="0"/>
                  </a:lnTo>
                  <a:lnTo>
                    <a:pt x="0" y="642782"/>
                  </a:lnTo>
                  <a:lnTo>
                    <a:pt x="2010757" y="642782"/>
                  </a:lnTo>
                  <a:lnTo>
                    <a:pt x="20107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09100" y="5721440"/>
              <a:ext cx="2011045" cy="643255"/>
            </a:xfrm>
            <a:custGeom>
              <a:avLst/>
              <a:gdLst/>
              <a:ahLst/>
              <a:cxnLst/>
              <a:rect l="l" t="t" r="r" b="b"/>
              <a:pathLst>
                <a:path w="2011045" h="643254">
                  <a:moveTo>
                    <a:pt x="0" y="642782"/>
                  </a:moveTo>
                  <a:lnTo>
                    <a:pt x="2010757" y="642782"/>
                  </a:lnTo>
                  <a:lnTo>
                    <a:pt x="2010757" y="0"/>
                  </a:lnTo>
                  <a:lnTo>
                    <a:pt x="0" y="0"/>
                  </a:lnTo>
                  <a:lnTo>
                    <a:pt x="0" y="642782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54200"/>
            <a:ext cx="852551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9" dirty="0"/>
              <a:t>Detecting</a:t>
            </a:r>
            <a:r>
              <a:rPr spc="-355" dirty="0"/>
              <a:t> </a:t>
            </a:r>
            <a:r>
              <a:rPr spc="-229" dirty="0"/>
              <a:t>the</a:t>
            </a:r>
            <a:r>
              <a:rPr spc="-350" dirty="0"/>
              <a:t> </a:t>
            </a:r>
            <a:r>
              <a:rPr spc="-300" dirty="0"/>
              <a:t>Leak:</a:t>
            </a:r>
            <a:r>
              <a:rPr spc="-350" dirty="0"/>
              <a:t> </a:t>
            </a:r>
            <a:r>
              <a:rPr spc="-280" dirty="0"/>
              <a:t>The</a:t>
            </a:r>
            <a:r>
              <a:rPr spc="-350" dirty="0"/>
              <a:t> </a:t>
            </a:r>
            <a:r>
              <a:rPr spc="-204" dirty="0"/>
              <a:t>Diagnostic</a:t>
            </a:r>
            <a:r>
              <a:rPr spc="-350" dirty="0"/>
              <a:t> </a:t>
            </a:r>
            <a:r>
              <a:rPr spc="-140"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600075" y="301942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7375" y="2730500"/>
            <a:ext cx="4636135" cy="1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51586B"/>
                </a:solidFill>
                <a:latin typeface="Trebuchet MS"/>
                <a:cs typeface="Trebuchet MS"/>
              </a:rPr>
              <a:t>01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spc="-70" dirty="0">
                <a:solidFill>
                  <a:srgbClr val="51586B"/>
                </a:solidFill>
                <a:latin typeface="Arial Black"/>
                <a:cs typeface="Arial Black"/>
              </a:rPr>
              <a:t>Confirm</a:t>
            </a:r>
            <a:r>
              <a:rPr sz="1650" spc="-15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5" dirty="0">
                <a:solidFill>
                  <a:srgbClr val="51586B"/>
                </a:solidFill>
                <a:latin typeface="Arial Black"/>
                <a:cs typeface="Arial Black"/>
              </a:rPr>
              <a:t>the</a:t>
            </a:r>
            <a:r>
              <a:rPr sz="1650" spc="-15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51586B"/>
                </a:solidFill>
                <a:latin typeface="Arial Black"/>
                <a:cs typeface="Arial Black"/>
              </a:rPr>
              <a:t>Leak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Distinguish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from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legitimate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growth.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Healthy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process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shows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sawtooth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pattern.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Leaked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process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shows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slow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upward 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trend.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50" b="1" spc="-75" dirty="0">
                <a:solidFill>
                  <a:srgbClr val="51586B"/>
                </a:solidFill>
                <a:latin typeface="Tahoma"/>
                <a:cs typeface="Tahoma"/>
              </a:rPr>
              <a:t>Threshold:</a:t>
            </a:r>
            <a:r>
              <a:rPr sz="1350" b="1" spc="-30" dirty="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sz="1350" spc="-140" dirty="0">
                <a:solidFill>
                  <a:srgbClr val="51586B"/>
                </a:solidFill>
                <a:latin typeface="Verdana"/>
                <a:cs typeface="Verdana"/>
              </a:rPr>
              <a:t>&gt;50MB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per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hour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under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normal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1586B"/>
                </a:solidFill>
                <a:latin typeface="Verdana"/>
                <a:cs typeface="Verdana"/>
              </a:rPr>
              <a:t>load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4775" y="2730500"/>
            <a:ext cx="2235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35" dirty="0">
                <a:solidFill>
                  <a:srgbClr val="51586B"/>
                </a:solidFill>
                <a:latin typeface="Trebuchet MS"/>
                <a:cs typeface="Trebuchet MS"/>
              </a:rPr>
              <a:t>02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00725" y="301942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88025" y="3135312"/>
            <a:ext cx="4686300" cy="12649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51586B"/>
                </a:solidFill>
                <a:latin typeface="Arial Black"/>
                <a:cs typeface="Arial Black"/>
              </a:rPr>
              <a:t>Add</a:t>
            </a:r>
            <a:r>
              <a:rPr sz="1650" spc="-14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80" dirty="0">
                <a:solidFill>
                  <a:srgbClr val="51586B"/>
                </a:solidFill>
                <a:latin typeface="Arial Black"/>
                <a:cs typeface="Arial Black"/>
              </a:rPr>
              <a:t>Memory</a:t>
            </a:r>
            <a:r>
              <a:rPr sz="1650" spc="-14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Monitoring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Log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statistics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periodically: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heapUsed,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51586B"/>
                </a:solidFill>
                <a:latin typeface="Verdana"/>
                <a:cs typeface="Verdana"/>
              </a:rPr>
              <a:t>heapTotal,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rss,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external, </a:t>
            </a:r>
            <a:r>
              <a:rPr sz="1350" spc="-30" dirty="0">
                <a:solidFill>
                  <a:srgbClr val="51586B"/>
                </a:solidFill>
                <a:latin typeface="Verdana"/>
                <a:cs typeface="Verdana"/>
              </a:rPr>
              <a:t>heap_size_limit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Track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trends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over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time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identify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patterns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54859" y="5786689"/>
            <a:ext cx="1779905" cy="560705"/>
            <a:chOff x="9554859" y="5786689"/>
            <a:chExt cx="1779905" cy="5607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563100" y="5794930"/>
              <a:ext cx="1739264" cy="544195"/>
            </a:xfrm>
            <a:custGeom>
              <a:avLst/>
              <a:gdLst/>
              <a:ahLst/>
              <a:cxnLst/>
              <a:rect l="l" t="t" r="r" b="b"/>
              <a:pathLst>
                <a:path w="1739265" h="544195">
                  <a:moveTo>
                    <a:pt x="1738810" y="0"/>
                  </a:moveTo>
                  <a:lnTo>
                    <a:pt x="0" y="0"/>
                  </a:lnTo>
                  <a:lnTo>
                    <a:pt x="0" y="543893"/>
                  </a:lnTo>
                  <a:lnTo>
                    <a:pt x="1738810" y="543893"/>
                  </a:lnTo>
                  <a:lnTo>
                    <a:pt x="1738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63100" y="5794930"/>
              <a:ext cx="1739264" cy="544195"/>
            </a:xfrm>
            <a:custGeom>
              <a:avLst/>
              <a:gdLst/>
              <a:ahLst/>
              <a:cxnLst/>
              <a:rect l="l" t="t" r="r" b="b"/>
              <a:pathLst>
                <a:path w="1739265" h="544195">
                  <a:moveTo>
                    <a:pt x="0" y="543893"/>
                  </a:moveTo>
                  <a:lnTo>
                    <a:pt x="1738810" y="543893"/>
                  </a:lnTo>
                  <a:lnTo>
                    <a:pt x="1738810" y="0"/>
                  </a:lnTo>
                  <a:lnTo>
                    <a:pt x="0" y="0"/>
                  </a:lnTo>
                  <a:lnTo>
                    <a:pt x="0" y="543893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4875" y="1577975"/>
            <a:ext cx="72751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20" dirty="0"/>
              <a:t>Tools</a:t>
            </a:r>
            <a:r>
              <a:rPr spc="-370" dirty="0"/>
              <a:t> </a:t>
            </a:r>
            <a:r>
              <a:rPr spc="-200" dirty="0"/>
              <a:t>of</a:t>
            </a:r>
            <a:r>
              <a:rPr spc="-365" dirty="0"/>
              <a:t> </a:t>
            </a:r>
            <a:r>
              <a:rPr spc="-229" dirty="0"/>
              <a:t>the</a:t>
            </a:r>
            <a:r>
              <a:rPr spc="-365" dirty="0"/>
              <a:t> </a:t>
            </a:r>
            <a:r>
              <a:rPr spc="-305" dirty="0"/>
              <a:t>Trade:</a:t>
            </a:r>
            <a:r>
              <a:rPr spc="-370" dirty="0"/>
              <a:t> </a:t>
            </a:r>
            <a:r>
              <a:rPr spc="-195" dirty="0"/>
              <a:t>Heap</a:t>
            </a:r>
            <a:r>
              <a:rPr spc="-365" dirty="0"/>
              <a:t> </a:t>
            </a:r>
            <a:r>
              <a:rPr spc="-150" dirty="0"/>
              <a:t>Snapshots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57575" y="2390774"/>
            <a:ext cx="3600450" cy="1276350"/>
            <a:chOff x="3457575" y="2390774"/>
            <a:chExt cx="3600450" cy="1276350"/>
          </a:xfrm>
        </p:grpSpPr>
        <p:sp>
          <p:nvSpPr>
            <p:cNvPr id="5" name="object 5"/>
            <p:cNvSpPr/>
            <p:nvPr/>
          </p:nvSpPr>
          <p:spPr>
            <a:xfrm>
              <a:off x="34623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35393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539312" y="1266825"/>
                  </a:lnTo>
                  <a:lnTo>
                    <a:pt x="3577310" y="1248079"/>
                  </a:lnTo>
                  <a:lnTo>
                    <a:pt x="3590925" y="12152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623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211580"/>
                  </a:lnTo>
                  <a:lnTo>
                    <a:pt x="3590925" y="1215212"/>
                  </a:lnTo>
                  <a:lnTo>
                    <a:pt x="3590569" y="1218793"/>
                  </a:lnTo>
                  <a:lnTo>
                    <a:pt x="3589858" y="1222362"/>
                  </a:lnTo>
                  <a:lnTo>
                    <a:pt x="3589159" y="1225918"/>
                  </a:lnTo>
                  <a:lnTo>
                    <a:pt x="3574745" y="1250645"/>
                  </a:lnTo>
                  <a:lnTo>
                    <a:pt x="3572179" y="1253210"/>
                  </a:lnTo>
                  <a:lnTo>
                    <a:pt x="3546449" y="1265758"/>
                  </a:lnTo>
                  <a:lnTo>
                    <a:pt x="3542893" y="1266469"/>
                  </a:lnTo>
                  <a:lnTo>
                    <a:pt x="3539312" y="1266825"/>
                  </a:lnTo>
                  <a:lnTo>
                    <a:pt x="35356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31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25850" y="2414984"/>
            <a:ext cx="2903220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85" dirty="0">
                <a:solidFill>
                  <a:srgbClr val="51586B"/>
                </a:solidFill>
                <a:latin typeface="Arial Black"/>
                <a:cs typeface="Arial Black"/>
              </a:rPr>
              <a:t>Capture</a:t>
            </a:r>
            <a:r>
              <a:rPr sz="1650" spc="-12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Snapshots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130" dirty="0">
                <a:solidFill>
                  <a:srgbClr val="51586B"/>
                </a:solidFill>
                <a:latin typeface="Verdana"/>
                <a:cs typeface="Verdana"/>
              </a:rPr>
              <a:t>Take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heap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snapshots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before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1586B"/>
                </a:solidFill>
                <a:latin typeface="Verdana"/>
                <a:cs typeface="Verdana"/>
              </a:rPr>
              <a:t>after </a:t>
            </a:r>
            <a:r>
              <a:rPr sz="1350" spc="-50" dirty="0">
                <a:solidFill>
                  <a:srgbClr val="51586B"/>
                </a:solidFill>
                <a:latin typeface="Verdana"/>
                <a:cs typeface="Verdana"/>
              </a:rPr>
              <a:t>specific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actions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load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periods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29475" y="2390774"/>
            <a:ext cx="3600450" cy="1276350"/>
            <a:chOff x="7229475" y="2390774"/>
            <a:chExt cx="3600450" cy="1276350"/>
          </a:xfrm>
        </p:grpSpPr>
        <p:sp>
          <p:nvSpPr>
            <p:cNvPr id="9" name="object 9"/>
            <p:cNvSpPr/>
            <p:nvPr/>
          </p:nvSpPr>
          <p:spPr>
            <a:xfrm>
              <a:off x="72342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353931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539312" y="1266825"/>
                  </a:lnTo>
                  <a:lnTo>
                    <a:pt x="3577310" y="1248079"/>
                  </a:lnTo>
                  <a:lnTo>
                    <a:pt x="3590925" y="12152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342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63353" y="7289"/>
                  </a:lnTo>
                  <a:lnTo>
                    <a:pt x="3566363" y="9309"/>
                  </a:lnTo>
                  <a:lnTo>
                    <a:pt x="3569385" y="11328"/>
                  </a:lnTo>
                  <a:lnTo>
                    <a:pt x="3572179" y="13614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211580"/>
                  </a:lnTo>
                  <a:lnTo>
                    <a:pt x="3590925" y="1215212"/>
                  </a:lnTo>
                  <a:lnTo>
                    <a:pt x="3590569" y="1218793"/>
                  </a:lnTo>
                  <a:lnTo>
                    <a:pt x="3589858" y="1222362"/>
                  </a:lnTo>
                  <a:lnTo>
                    <a:pt x="3589159" y="1225918"/>
                  </a:lnTo>
                  <a:lnTo>
                    <a:pt x="3574745" y="1250645"/>
                  </a:lnTo>
                  <a:lnTo>
                    <a:pt x="3572179" y="1253210"/>
                  </a:lnTo>
                  <a:lnTo>
                    <a:pt x="3546449" y="1265758"/>
                  </a:lnTo>
                  <a:lnTo>
                    <a:pt x="3542893" y="1266469"/>
                  </a:lnTo>
                  <a:lnTo>
                    <a:pt x="3539312" y="1266825"/>
                  </a:lnTo>
                  <a:lnTo>
                    <a:pt x="35356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18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16179" y="1250645"/>
                  </a:lnTo>
                  <a:lnTo>
                    <a:pt x="13614" y="1248079"/>
                  </a:lnTo>
                  <a:lnTo>
                    <a:pt x="11328" y="1245285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5588" y="1236078"/>
                  </a:lnTo>
                  <a:lnTo>
                    <a:pt x="4203" y="1232725"/>
                  </a:lnTo>
                  <a:lnTo>
                    <a:pt x="2819" y="1229372"/>
                  </a:lnTo>
                  <a:lnTo>
                    <a:pt x="1765" y="1225918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397750" y="2414984"/>
            <a:ext cx="295084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70" dirty="0">
                <a:solidFill>
                  <a:srgbClr val="51586B"/>
                </a:solidFill>
                <a:latin typeface="Arial Black"/>
                <a:cs typeface="Arial Black"/>
              </a:rPr>
              <a:t>Compare</a:t>
            </a:r>
            <a:r>
              <a:rPr sz="1650" spc="-16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70" dirty="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sz="1650" spc="-15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Analyze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Identify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retained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1586B"/>
                </a:solidFill>
                <a:latin typeface="Verdana"/>
                <a:cs typeface="Verdana"/>
              </a:rPr>
              <a:t>new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instances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being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garbage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1586B"/>
                </a:solidFill>
                <a:latin typeface="Verdana"/>
                <a:cs typeface="Verdana"/>
              </a:rPr>
              <a:t>collected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57575" y="3838575"/>
            <a:ext cx="7372350" cy="1009650"/>
            <a:chOff x="3457575" y="3838575"/>
            <a:chExt cx="7372350" cy="1009650"/>
          </a:xfrm>
        </p:grpSpPr>
        <p:sp>
          <p:nvSpPr>
            <p:cNvPr id="13" name="object 13"/>
            <p:cNvSpPr/>
            <p:nvPr/>
          </p:nvSpPr>
          <p:spPr>
            <a:xfrm>
              <a:off x="3462337" y="3843337"/>
              <a:ext cx="7362825" cy="1000125"/>
            </a:xfrm>
            <a:custGeom>
              <a:avLst/>
              <a:gdLst/>
              <a:ahLst/>
              <a:cxnLst/>
              <a:rect l="l" t="t" r="r" b="b"/>
              <a:pathLst>
                <a:path w="7362825" h="1000125">
                  <a:moveTo>
                    <a:pt x="73112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7311212" y="1000125"/>
                  </a:lnTo>
                  <a:lnTo>
                    <a:pt x="7349210" y="981379"/>
                  </a:lnTo>
                  <a:lnTo>
                    <a:pt x="7362825" y="948512"/>
                  </a:lnTo>
                  <a:lnTo>
                    <a:pt x="7362825" y="51612"/>
                  </a:lnTo>
                  <a:lnTo>
                    <a:pt x="7344079" y="13614"/>
                  </a:lnTo>
                  <a:lnTo>
                    <a:pt x="7314793" y="355"/>
                  </a:lnTo>
                  <a:lnTo>
                    <a:pt x="73112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62337" y="3843337"/>
              <a:ext cx="7362825" cy="1000125"/>
            </a:xfrm>
            <a:custGeom>
              <a:avLst/>
              <a:gdLst/>
              <a:ahLst/>
              <a:cxnLst/>
              <a:rect l="l" t="t" r="r" b="b"/>
              <a:pathLst>
                <a:path w="736282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7307580" y="0"/>
                  </a:lnTo>
                  <a:lnTo>
                    <a:pt x="7311212" y="0"/>
                  </a:lnTo>
                  <a:lnTo>
                    <a:pt x="7314793" y="355"/>
                  </a:lnTo>
                  <a:lnTo>
                    <a:pt x="7318349" y="1066"/>
                  </a:lnTo>
                  <a:lnTo>
                    <a:pt x="7321918" y="1765"/>
                  </a:lnTo>
                  <a:lnTo>
                    <a:pt x="7325372" y="2819"/>
                  </a:lnTo>
                  <a:lnTo>
                    <a:pt x="7328712" y="4203"/>
                  </a:lnTo>
                  <a:lnTo>
                    <a:pt x="7332078" y="5588"/>
                  </a:lnTo>
                  <a:lnTo>
                    <a:pt x="7335253" y="7289"/>
                  </a:lnTo>
                  <a:lnTo>
                    <a:pt x="7338263" y="9309"/>
                  </a:lnTo>
                  <a:lnTo>
                    <a:pt x="7341285" y="11328"/>
                  </a:lnTo>
                  <a:lnTo>
                    <a:pt x="7344079" y="13614"/>
                  </a:lnTo>
                  <a:lnTo>
                    <a:pt x="7346645" y="16179"/>
                  </a:lnTo>
                  <a:lnTo>
                    <a:pt x="7349210" y="18745"/>
                  </a:lnTo>
                  <a:lnTo>
                    <a:pt x="7361758" y="44462"/>
                  </a:lnTo>
                  <a:lnTo>
                    <a:pt x="7362469" y="48018"/>
                  </a:lnTo>
                  <a:lnTo>
                    <a:pt x="7362825" y="51612"/>
                  </a:lnTo>
                  <a:lnTo>
                    <a:pt x="7362825" y="55245"/>
                  </a:lnTo>
                  <a:lnTo>
                    <a:pt x="7362825" y="944880"/>
                  </a:lnTo>
                  <a:lnTo>
                    <a:pt x="7362825" y="948512"/>
                  </a:lnTo>
                  <a:lnTo>
                    <a:pt x="7362469" y="952093"/>
                  </a:lnTo>
                  <a:lnTo>
                    <a:pt x="7361758" y="955662"/>
                  </a:lnTo>
                  <a:lnTo>
                    <a:pt x="7361059" y="959218"/>
                  </a:lnTo>
                  <a:lnTo>
                    <a:pt x="7346645" y="983945"/>
                  </a:lnTo>
                  <a:lnTo>
                    <a:pt x="7344079" y="986510"/>
                  </a:lnTo>
                  <a:lnTo>
                    <a:pt x="7318349" y="999058"/>
                  </a:lnTo>
                  <a:lnTo>
                    <a:pt x="7314793" y="999769"/>
                  </a:lnTo>
                  <a:lnTo>
                    <a:pt x="7311212" y="1000125"/>
                  </a:lnTo>
                  <a:lnTo>
                    <a:pt x="730758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31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25850" y="4011612"/>
            <a:ext cx="606298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5" dirty="0">
                <a:solidFill>
                  <a:srgbClr val="51586B"/>
                </a:solidFill>
                <a:latin typeface="Arial Black"/>
                <a:cs typeface="Arial Black"/>
              </a:rPr>
              <a:t>Pinpoint</a:t>
            </a:r>
            <a:r>
              <a:rPr sz="1650" spc="-12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Issues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Chrome </a:t>
            </a:r>
            <a:r>
              <a:rPr sz="1350" spc="-130" dirty="0">
                <a:solidFill>
                  <a:srgbClr val="51586B"/>
                </a:solidFill>
                <a:latin typeface="Verdana"/>
                <a:cs typeface="Verdana"/>
              </a:rPr>
              <a:t>DevTools,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.NET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Memory Profiler, 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JProfiler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provide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snapshot </a:t>
            </a:r>
            <a:r>
              <a:rPr sz="1350" spc="-35" dirty="0">
                <a:solidFill>
                  <a:srgbClr val="51586B"/>
                </a:solidFill>
                <a:latin typeface="Verdana"/>
                <a:cs typeface="Verdana"/>
              </a:rPr>
              <a:t>capabilities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554859" y="5803849"/>
            <a:ext cx="1779905" cy="568960"/>
            <a:chOff x="9554859" y="5803849"/>
            <a:chExt cx="1779905" cy="56896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563100" y="5812090"/>
              <a:ext cx="1731010" cy="552450"/>
            </a:xfrm>
            <a:custGeom>
              <a:avLst/>
              <a:gdLst/>
              <a:ahLst/>
              <a:cxnLst/>
              <a:rect l="l" t="t" r="r" b="b"/>
              <a:pathLst>
                <a:path w="1731009" h="552450">
                  <a:moveTo>
                    <a:pt x="1730569" y="0"/>
                  </a:moveTo>
                  <a:lnTo>
                    <a:pt x="0" y="0"/>
                  </a:lnTo>
                  <a:lnTo>
                    <a:pt x="0" y="552134"/>
                  </a:lnTo>
                  <a:lnTo>
                    <a:pt x="1730569" y="552134"/>
                  </a:lnTo>
                  <a:lnTo>
                    <a:pt x="1730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63100" y="5812090"/>
              <a:ext cx="1731010" cy="552450"/>
            </a:xfrm>
            <a:custGeom>
              <a:avLst/>
              <a:gdLst/>
              <a:ahLst/>
              <a:cxnLst/>
              <a:rect l="l" t="t" r="r" b="b"/>
              <a:pathLst>
                <a:path w="1731009" h="552450">
                  <a:moveTo>
                    <a:pt x="0" y="552134"/>
                  </a:moveTo>
                  <a:lnTo>
                    <a:pt x="1730569" y="552134"/>
                  </a:lnTo>
                  <a:lnTo>
                    <a:pt x="1730569" y="0"/>
                  </a:lnTo>
                  <a:lnTo>
                    <a:pt x="0" y="0"/>
                  </a:lnTo>
                  <a:lnTo>
                    <a:pt x="0" y="552134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Common</a:t>
            </a:r>
            <a:r>
              <a:rPr spc="-350" dirty="0"/>
              <a:t> </a:t>
            </a:r>
            <a:r>
              <a:rPr spc="-290" dirty="0"/>
              <a:t>Leak</a:t>
            </a:r>
            <a:r>
              <a:rPr spc="-345" dirty="0"/>
              <a:t> </a:t>
            </a:r>
            <a:r>
              <a:rPr spc="-220" dirty="0"/>
              <a:t>Patterns</a:t>
            </a:r>
            <a:r>
              <a:rPr spc="-345" dirty="0"/>
              <a:t> </a:t>
            </a:r>
            <a:r>
              <a:rPr spc="-210" dirty="0"/>
              <a:t>in</a:t>
            </a:r>
            <a:r>
              <a:rPr spc="-350" dirty="0"/>
              <a:t> </a:t>
            </a:r>
            <a:r>
              <a:rPr spc="-270" dirty="0"/>
              <a:t>Node.js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1490" y="2867061"/>
            <a:ext cx="386080" cy="447675"/>
            <a:chOff x="621490" y="2867061"/>
            <a:chExt cx="386080" cy="447675"/>
          </a:xfrm>
        </p:grpSpPr>
        <p:sp>
          <p:nvSpPr>
            <p:cNvPr id="4" name="object 4"/>
            <p:cNvSpPr/>
            <p:nvPr/>
          </p:nvSpPr>
          <p:spPr>
            <a:xfrm>
              <a:off x="869195" y="3155822"/>
              <a:ext cx="127000" cy="44450"/>
            </a:xfrm>
            <a:custGeom>
              <a:avLst/>
              <a:gdLst/>
              <a:ahLst/>
              <a:cxnLst/>
              <a:rect l="l" t="t" r="r" b="b"/>
              <a:pathLst>
                <a:path w="127000" h="44450">
                  <a:moveTo>
                    <a:pt x="127005" y="0"/>
                  </a:moveTo>
                  <a:lnTo>
                    <a:pt x="89763" y="23012"/>
                  </a:lnTo>
                  <a:lnTo>
                    <a:pt x="40189" y="37985"/>
                  </a:lnTo>
                  <a:lnTo>
                    <a:pt x="9593" y="42686"/>
                  </a:lnTo>
                  <a:lnTo>
                    <a:pt x="0" y="43891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340" y="3041297"/>
              <a:ext cx="182858" cy="668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3583" y="3083737"/>
              <a:ext cx="304800" cy="219710"/>
            </a:xfrm>
            <a:custGeom>
              <a:avLst/>
              <a:gdLst/>
              <a:ahLst/>
              <a:cxnLst/>
              <a:rect l="l" t="t" r="r" b="b"/>
              <a:pathLst>
                <a:path w="304800" h="219710">
                  <a:moveTo>
                    <a:pt x="99143" y="14833"/>
                  </a:moveTo>
                  <a:lnTo>
                    <a:pt x="77823" y="13098"/>
                  </a:lnTo>
                  <a:lnTo>
                    <a:pt x="57973" y="10990"/>
                  </a:lnTo>
                  <a:lnTo>
                    <a:pt x="39262" y="8470"/>
                  </a:lnTo>
                  <a:lnTo>
                    <a:pt x="21356" y="5499"/>
                  </a:lnTo>
                  <a:lnTo>
                    <a:pt x="0" y="0"/>
                  </a:lnTo>
                </a:path>
                <a:path w="304800" h="219710">
                  <a:moveTo>
                    <a:pt x="304204" y="149098"/>
                  </a:moveTo>
                  <a:lnTo>
                    <a:pt x="287574" y="184238"/>
                  </a:lnTo>
                  <a:lnTo>
                    <a:pt x="252409" y="201997"/>
                  </a:lnTo>
                  <a:lnTo>
                    <a:pt x="212877" y="212832"/>
                  </a:lnTo>
                  <a:lnTo>
                    <a:pt x="178722" y="218363"/>
                  </a:lnTo>
                  <a:lnTo>
                    <a:pt x="164558" y="219697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28" y="3196605"/>
              <a:ext cx="132797" cy="1134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0986" y="2876557"/>
              <a:ext cx="367030" cy="428625"/>
            </a:xfrm>
            <a:custGeom>
              <a:avLst/>
              <a:gdLst/>
              <a:ahLst/>
              <a:cxnLst/>
              <a:rect l="l" t="t" r="r" b="b"/>
              <a:pathLst>
                <a:path w="367030" h="428625">
                  <a:moveTo>
                    <a:pt x="158" y="90644"/>
                  </a:moveTo>
                  <a:lnTo>
                    <a:pt x="260" y="78833"/>
                  </a:lnTo>
                  <a:lnTo>
                    <a:pt x="280" y="68232"/>
                  </a:lnTo>
                  <a:lnTo>
                    <a:pt x="393" y="59483"/>
                  </a:lnTo>
                  <a:lnTo>
                    <a:pt x="26644" y="26446"/>
                  </a:lnTo>
                  <a:lnTo>
                    <a:pt x="64694" y="12474"/>
                  </a:lnTo>
                  <a:lnTo>
                    <a:pt x="106689" y="4550"/>
                  </a:lnTo>
                  <a:lnTo>
                    <a:pt x="151452" y="588"/>
                  </a:lnTo>
                  <a:lnTo>
                    <a:pt x="188406" y="0"/>
                  </a:lnTo>
                  <a:lnTo>
                    <a:pt x="204960" y="269"/>
                  </a:lnTo>
                  <a:lnTo>
                    <a:pt x="250968" y="3492"/>
                  </a:lnTo>
                  <a:lnTo>
                    <a:pt x="295434" y="11049"/>
                  </a:lnTo>
                  <a:lnTo>
                    <a:pt x="332062" y="22859"/>
                  </a:lnTo>
                  <a:lnTo>
                    <a:pt x="364509" y="49445"/>
                  </a:lnTo>
                  <a:lnTo>
                    <a:pt x="366690" y="82739"/>
                  </a:lnTo>
                  <a:lnTo>
                    <a:pt x="366756" y="100525"/>
                  </a:lnTo>
                </a:path>
                <a:path w="367030" h="428625">
                  <a:moveTo>
                    <a:pt x="366762" y="278147"/>
                  </a:moveTo>
                  <a:lnTo>
                    <a:pt x="366801" y="356277"/>
                  </a:lnTo>
                </a:path>
                <a:path w="367030" h="428625">
                  <a:moveTo>
                    <a:pt x="366746" y="173423"/>
                  </a:moveTo>
                  <a:lnTo>
                    <a:pt x="365213" y="279265"/>
                  </a:lnTo>
                </a:path>
                <a:path w="367030" h="428625">
                  <a:moveTo>
                    <a:pt x="366736" y="72978"/>
                  </a:moveTo>
                  <a:lnTo>
                    <a:pt x="348959" y="85754"/>
                  </a:lnTo>
                  <a:lnTo>
                    <a:pt x="330001" y="95924"/>
                  </a:lnTo>
                  <a:lnTo>
                    <a:pt x="309858" y="103489"/>
                  </a:lnTo>
                  <a:lnTo>
                    <a:pt x="288532" y="108450"/>
                  </a:lnTo>
                </a:path>
                <a:path w="367030" h="428625">
                  <a:moveTo>
                    <a:pt x="238208" y="323156"/>
                  </a:moveTo>
                  <a:lnTo>
                    <a:pt x="199266" y="325394"/>
                  </a:lnTo>
                  <a:lnTo>
                    <a:pt x="160320" y="325223"/>
                  </a:lnTo>
                  <a:lnTo>
                    <a:pt x="121373" y="322199"/>
                  </a:lnTo>
                  <a:lnTo>
                    <a:pt x="82425" y="315879"/>
                  </a:lnTo>
                </a:path>
                <a:path w="367030" h="428625">
                  <a:moveTo>
                    <a:pt x="82500" y="315396"/>
                  </a:moveTo>
                  <a:lnTo>
                    <a:pt x="59783" y="310376"/>
                  </a:lnTo>
                  <a:lnTo>
                    <a:pt x="38461" y="302345"/>
                  </a:lnTo>
                  <a:lnTo>
                    <a:pt x="18533" y="291302"/>
                  </a:lnTo>
                  <a:lnTo>
                    <a:pt x="0" y="277245"/>
                  </a:lnTo>
                </a:path>
                <a:path w="367030" h="428625">
                  <a:moveTo>
                    <a:pt x="227156" y="426877"/>
                  </a:moveTo>
                  <a:lnTo>
                    <a:pt x="198854" y="428366"/>
                  </a:lnTo>
                  <a:lnTo>
                    <a:pt x="170568" y="428486"/>
                  </a:lnTo>
                  <a:lnTo>
                    <a:pt x="142272" y="427087"/>
                  </a:lnTo>
                  <a:lnTo>
                    <a:pt x="113943" y="424019"/>
                  </a:lnTo>
                </a:path>
                <a:path w="367030" h="428625">
                  <a:moveTo>
                    <a:pt x="138" y="329544"/>
                  </a:moveTo>
                  <a:lnTo>
                    <a:pt x="158" y="90644"/>
                  </a:lnTo>
                </a:path>
                <a:path w="367030" h="428625">
                  <a:moveTo>
                    <a:pt x="201849" y="222089"/>
                  </a:moveTo>
                  <a:lnTo>
                    <a:pt x="161740" y="222013"/>
                  </a:lnTo>
                </a:path>
                <a:path w="367030" h="428625">
                  <a:moveTo>
                    <a:pt x="366756" y="100525"/>
                  </a:moveTo>
                  <a:lnTo>
                    <a:pt x="365715" y="174236"/>
                  </a:lnTo>
                </a:path>
                <a:path w="367030" h="428625">
                  <a:moveTo>
                    <a:pt x="62646" y="206976"/>
                  </a:moveTo>
                  <a:lnTo>
                    <a:pt x="45481" y="201549"/>
                  </a:lnTo>
                  <a:lnTo>
                    <a:pt x="29371" y="194162"/>
                  </a:lnTo>
                  <a:lnTo>
                    <a:pt x="14315" y="184813"/>
                  </a:lnTo>
                  <a:lnTo>
                    <a:pt x="312" y="173499"/>
                  </a:lnTo>
                </a:path>
                <a:path w="367030" h="428625">
                  <a:moveTo>
                    <a:pt x="288587" y="108767"/>
                  </a:moveTo>
                  <a:lnTo>
                    <a:pt x="237240" y="116911"/>
                  </a:lnTo>
                  <a:lnTo>
                    <a:pt x="185892" y="119962"/>
                  </a:lnTo>
                  <a:lnTo>
                    <a:pt x="134545" y="117765"/>
                  </a:lnTo>
                  <a:lnTo>
                    <a:pt x="83204" y="110164"/>
                  </a:lnTo>
                </a:path>
                <a:path w="367030" h="428625">
                  <a:moveTo>
                    <a:pt x="83258" y="109808"/>
                  </a:moveTo>
                  <a:lnTo>
                    <a:pt x="60865" y="104882"/>
                  </a:lnTo>
                  <a:lnTo>
                    <a:pt x="39560" y="97378"/>
                  </a:lnTo>
                  <a:lnTo>
                    <a:pt x="19346" y="87299"/>
                  </a:lnTo>
                  <a:lnTo>
                    <a:pt x="223" y="74642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7375" y="3516312"/>
            <a:ext cx="314071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0" dirty="0">
                <a:solidFill>
                  <a:srgbClr val="51586B"/>
                </a:solidFill>
                <a:latin typeface="Arial Black"/>
                <a:cs typeface="Arial Black"/>
              </a:rPr>
              <a:t>Unbounded</a:t>
            </a:r>
            <a:r>
              <a:rPr sz="1650" spc="-114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51586B"/>
                </a:solidFill>
                <a:latin typeface="Arial Black"/>
                <a:cs typeface="Arial Black"/>
              </a:rPr>
              <a:t>Global</a:t>
            </a:r>
            <a:r>
              <a:rPr sz="1650" spc="-114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51586B"/>
                </a:solidFill>
                <a:latin typeface="Arial Black"/>
                <a:cs typeface="Arial Black"/>
              </a:rPr>
              <a:t>State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Caches,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registries,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event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listeners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that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grow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indefinitely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without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bounds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3417" y="2866846"/>
            <a:ext cx="434264" cy="44782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68762" y="3516312"/>
            <a:ext cx="2935605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10" dirty="0">
                <a:solidFill>
                  <a:srgbClr val="51586B"/>
                </a:solidFill>
                <a:latin typeface="Arial Black"/>
                <a:cs typeface="Arial Black"/>
              </a:rPr>
              <a:t>Lingering</a:t>
            </a: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Closures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Callbacks,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promises,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timers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1586B"/>
                </a:solidFill>
                <a:latin typeface="Verdana"/>
                <a:cs typeface="Verdana"/>
              </a:rPr>
              <a:t>holding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references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longer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than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necessary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31683" y="2876549"/>
            <a:ext cx="291465" cy="428625"/>
          </a:xfrm>
          <a:custGeom>
            <a:avLst/>
            <a:gdLst/>
            <a:ahLst/>
            <a:cxnLst/>
            <a:rect l="l" t="t" r="r" b="b"/>
            <a:pathLst>
              <a:path w="291465" h="428625">
                <a:moveTo>
                  <a:pt x="268122" y="193598"/>
                </a:moveTo>
                <a:lnTo>
                  <a:pt x="254310" y="234202"/>
                </a:lnTo>
                <a:lnTo>
                  <a:pt x="228530" y="267325"/>
                </a:lnTo>
                <a:lnTo>
                  <a:pt x="192278" y="289641"/>
                </a:lnTo>
                <a:lnTo>
                  <a:pt x="149250" y="299173"/>
                </a:lnTo>
                <a:lnTo>
                  <a:pt x="140107" y="298624"/>
                </a:lnTo>
                <a:lnTo>
                  <a:pt x="97701" y="289290"/>
                </a:lnTo>
                <a:lnTo>
                  <a:pt x="62064" y="266477"/>
                </a:lnTo>
                <a:lnTo>
                  <a:pt x="35775" y="231343"/>
                </a:lnTo>
                <a:lnTo>
                  <a:pt x="23017" y="188996"/>
                </a:lnTo>
                <a:lnTo>
                  <a:pt x="21574" y="176056"/>
                </a:lnTo>
                <a:lnTo>
                  <a:pt x="21158" y="170053"/>
                </a:lnTo>
              </a:path>
              <a:path w="291465" h="428625">
                <a:moveTo>
                  <a:pt x="0" y="110020"/>
                </a:moveTo>
                <a:lnTo>
                  <a:pt x="290957" y="109804"/>
                </a:lnTo>
              </a:path>
              <a:path w="291465" h="428625">
                <a:moveTo>
                  <a:pt x="270865" y="109855"/>
                </a:moveTo>
                <a:lnTo>
                  <a:pt x="268122" y="193598"/>
                </a:lnTo>
              </a:path>
              <a:path w="291465" h="428625">
                <a:moveTo>
                  <a:pt x="64744" y="110007"/>
                </a:moveTo>
                <a:lnTo>
                  <a:pt x="64947" y="0"/>
                </a:lnTo>
              </a:path>
              <a:path w="291465" h="428625">
                <a:moveTo>
                  <a:pt x="144741" y="299046"/>
                </a:moveTo>
                <a:lnTo>
                  <a:pt x="145796" y="428625"/>
                </a:lnTo>
              </a:path>
              <a:path w="291465" h="428625">
                <a:moveTo>
                  <a:pt x="227380" y="1574"/>
                </a:moveTo>
                <a:lnTo>
                  <a:pt x="227393" y="110159"/>
                </a:lnTo>
              </a:path>
              <a:path w="291465" h="428625">
                <a:moveTo>
                  <a:pt x="21158" y="170053"/>
                </a:moveTo>
                <a:lnTo>
                  <a:pt x="21196" y="110210"/>
                </a:lnTo>
              </a:path>
            </a:pathLst>
          </a:custGeom>
          <a:ln w="18984">
            <a:solidFill>
              <a:srgbClr val="373B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50150" y="3516312"/>
            <a:ext cx="305816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Library</a:t>
            </a:r>
            <a:r>
              <a:rPr sz="1650" spc="-12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Misuse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Connection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pools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released,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streams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destroyed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properly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61500" y="5721441"/>
            <a:ext cx="1887220" cy="643255"/>
            <a:chOff x="9461500" y="5721441"/>
            <a:chExt cx="1887220" cy="64325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61500" y="5721441"/>
              <a:ext cx="1887220" cy="643255"/>
            </a:xfrm>
            <a:custGeom>
              <a:avLst/>
              <a:gdLst/>
              <a:ahLst/>
              <a:cxnLst/>
              <a:rect l="l" t="t" r="r" b="b"/>
              <a:pathLst>
                <a:path w="1887220" h="643254">
                  <a:moveTo>
                    <a:pt x="1887144" y="0"/>
                  </a:moveTo>
                  <a:lnTo>
                    <a:pt x="0" y="0"/>
                  </a:lnTo>
                  <a:lnTo>
                    <a:pt x="0" y="642782"/>
                  </a:lnTo>
                  <a:lnTo>
                    <a:pt x="1887144" y="642782"/>
                  </a:lnTo>
                  <a:lnTo>
                    <a:pt x="1887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968375"/>
            <a:ext cx="678624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235" dirty="0"/>
              <a:t>Proactive</a:t>
            </a:r>
            <a:r>
              <a:rPr spc="-340" dirty="0"/>
              <a:t> </a:t>
            </a:r>
            <a:r>
              <a:rPr spc="-195" dirty="0"/>
              <a:t>Memory</a:t>
            </a:r>
            <a:r>
              <a:rPr spc="-340" dirty="0"/>
              <a:t> </a:t>
            </a:r>
            <a:r>
              <a:rPr spc="-180" dirty="0"/>
              <a:t>Management: </a:t>
            </a:r>
            <a:r>
              <a:rPr spc="-220" dirty="0"/>
              <a:t>Beyond</a:t>
            </a:r>
            <a:r>
              <a:rPr spc="-385" dirty="0"/>
              <a:t> </a:t>
            </a:r>
            <a:r>
              <a:rPr spc="-100" dirty="0"/>
              <a:t>Restarting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4717" y="2337791"/>
            <a:ext cx="868044" cy="3096895"/>
            <a:chOff x="594717" y="2337791"/>
            <a:chExt cx="868044" cy="3096895"/>
          </a:xfrm>
        </p:grpSpPr>
        <p:sp>
          <p:nvSpPr>
            <p:cNvPr id="5" name="object 5"/>
            <p:cNvSpPr/>
            <p:nvPr/>
          </p:nvSpPr>
          <p:spPr>
            <a:xfrm>
              <a:off x="600075" y="2343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75" y="2343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890" y="2724149"/>
              <a:ext cx="262937" cy="2628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0075" y="33718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75" y="33718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051" y="3748929"/>
              <a:ext cx="268696" cy="26501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075" y="4400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5" y="4400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1"/>
                  </a:move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4875" y="4823599"/>
              <a:ext cx="257175" cy="173355"/>
            </a:xfrm>
            <a:custGeom>
              <a:avLst/>
              <a:gdLst/>
              <a:ahLst/>
              <a:cxnLst/>
              <a:rect l="l" t="t" r="r" b="b"/>
              <a:pathLst>
                <a:path w="257175" h="173354">
                  <a:moveTo>
                    <a:pt x="257175" y="0"/>
                  </a:moveTo>
                  <a:lnTo>
                    <a:pt x="84221" y="173075"/>
                  </a:lnTo>
                </a:path>
                <a:path w="257175" h="173354">
                  <a:moveTo>
                    <a:pt x="0" y="88684"/>
                  </a:moveTo>
                  <a:lnTo>
                    <a:pt x="84221" y="173075"/>
                  </a:lnTo>
                </a:path>
              </a:pathLst>
            </a:custGeom>
            <a:ln w="11390">
              <a:solidFill>
                <a:srgbClr val="5158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16075" y="2506662"/>
            <a:ext cx="4241800" cy="2674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5" dirty="0">
                <a:solidFill>
                  <a:srgbClr val="51586B"/>
                </a:solidFill>
                <a:latin typeface="Arial Black"/>
                <a:cs typeface="Arial Black"/>
              </a:rPr>
              <a:t>Fix</a:t>
            </a:r>
            <a:r>
              <a:rPr sz="1650" spc="-17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70" dirty="0">
                <a:solidFill>
                  <a:srgbClr val="51586B"/>
                </a:solidFill>
                <a:latin typeface="Arial Black"/>
                <a:cs typeface="Arial Black"/>
              </a:rPr>
              <a:t>at</a:t>
            </a:r>
            <a:r>
              <a:rPr sz="1650" spc="-17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Source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Stop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masking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leaks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scheduled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restarts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spc="-95" dirty="0">
                <a:solidFill>
                  <a:srgbClr val="51586B"/>
                </a:solidFill>
                <a:latin typeface="Arial Black"/>
                <a:cs typeface="Arial Black"/>
              </a:rPr>
              <a:t>Understand</a:t>
            </a:r>
            <a:r>
              <a:rPr sz="1650" spc="-13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85" dirty="0">
                <a:solidFill>
                  <a:srgbClr val="51586B"/>
                </a:solidFill>
                <a:latin typeface="Arial Black"/>
                <a:cs typeface="Arial Black"/>
              </a:rPr>
              <a:t>Root</a:t>
            </a:r>
            <a:r>
              <a:rPr sz="1650" spc="-13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Cause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Identify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global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state,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closure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issues,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library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1586B"/>
                </a:solidFill>
                <a:latin typeface="Verdana"/>
                <a:cs typeface="Verdana"/>
              </a:rPr>
              <a:t>problems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Implement</a:t>
            </a:r>
            <a:r>
              <a:rPr sz="1650" spc="-114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Solution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Apply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targeted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fixes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prevent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recurrence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68959" y="-8240"/>
            <a:ext cx="3369310" cy="6457315"/>
            <a:chOff x="8068959" y="-8240"/>
            <a:chExt cx="3369310" cy="645731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96300" y="42846"/>
              <a:ext cx="2933700" cy="6296025"/>
            </a:xfrm>
            <a:custGeom>
              <a:avLst/>
              <a:gdLst/>
              <a:ahLst/>
              <a:cxnLst/>
              <a:rect l="l" t="t" r="r" b="b"/>
              <a:pathLst>
                <a:path w="2933700" h="6296025">
                  <a:moveTo>
                    <a:pt x="2933700" y="0"/>
                  </a:moveTo>
                  <a:lnTo>
                    <a:pt x="0" y="0"/>
                  </a:lnTo>
                  <a:lnTo>
                    <a:pt x="0" y="6295976"/>
                  </a:lnTo>
                  <a:lnTo>
                    <a:pt x="2933700" y="6295976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96300" y="42846"/>
              <a:ext cx="2933700" cy="6296025"/>
            </a:xfrm>
            <a:custGeom>
              <a:avLst/>
              <a:gdLst/>
              <a:ahLst/>
              <a:cxnLst/>
              <a:rect l="l" t="t" r="r" b="b"/>
              <a:pathLst>
                <a:path w="2933700" h="6296025">
                  <a:moveTo>
                    <a:pt x="2933700" y="0"/>
                  </a:moveTo>
                  <a:lnTo>
                    <a:pt x="0" y="0"/>
                  </a:lnTo>
                  <a:lnTo>
                    <a:pt x="0" y="6295976"/>
                  </a:lnTo>
                  <a:lnTo>
                    <a:pt x="2933700" y="6295976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18500" y="5863567"/>
              <a:ext cx="3111500" cy="577215"/>
            </a:xfrm>
            <a:custGeom>
              <a:avLst/>
              <a:gdLst/>
              <a:ahLst/>
              <a:cxnLst/>
              <a:rect l="l" t="t" r="r" b="b"/>
              <a:pathLst>
                <a:path w="3111500" h="577214">
                  <a:moveTo>
                    <a:pt x="3111500" y="0"/>
                  </a:moveTo>
                  <a:lnTo>
                    <a:pt x="0" y="0"/>
                  </a:lnTo>
                  <a:lnTo>
                    <a:pt x="0" y="576856"/>
                  </a:lnTo>
                  <a:lnTo>
                    <a:pt x="3111500" y="576856"/>
                  </a:lnTo>
                  <a:lnTo>
                    <a:pt x="311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18500" y="5863567"/>
              <a:ext cx="3111500" cy="577215"/>
            </a:xfrm>
            <a:custGeom>
              <a:avLst/>
              <a:gdLst/>
              <a:ahLst/>
              <a:cxnLst/>
              <a:rect l="l" t="t" r="r" b="b"/>
              <a:pathLst>
                <a:path w="3111500" h="577214">
                  <a:moveTo>
                    <a:pt x="3111500" y="0"/>
                  </a:moveTo>
                  <a:lnTo>
                    <a:pt x="0" y="0"/>
                  </a:lnTo>
                  <a:lnTo>
                    <a:pt x="0" y="576856"/>
                  </a:lnTo>
                  <a:lnTo>
                    <a:pt x="3111500" y="576856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77200" y="0"/>
              <a:ext cx="3352800" cy="357505"/>
            </a:xfrm>
            <a:custGeom>
              <a:avLst/>
              <a:gdLst/>
              <a:ahLst/>
              <a:cxnLst/>
              <a:rect l="l" t="t" r="r" b="b"/>
              <a:pathLst>
                <a:path w="3352800" h="357505">
                  <a:moveTo>
                    <a:pt x="0" y="0"/>
                  </a:moveTo>
                  <a:lnTo>
                    <a:pt x="0" y="357123"/>
                  </a:lnTo>
                  <a:lnTo>
                    <a:pt x="3352800" y="357123"/>
                  </a:lnTo>
                  <a:lnTo>
                    <a:pt x="3352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77200" y="0"/>
              <a:ext cx="3352800" cy="357505"/>
            </a:xfrm>
            <a:custGeom>
              <a:avLst/>
              <a:gdLst/>
              <a:ahLst/>
              <a:cxnLst/>
              <a:rect l="l" t="t" r="r" b="b"/>
              <a:pathLst>
                <a:path w="3352800" h="357505">
                  <a:moveTo>
                    <a:pt x="0" y="0"/>
                  </a:moveTo>
                  <a:lnTo>
                    <a:pt x="0" y="357123"/>
                  </a:lnTo>
                  <a:lnTo>
                    <a:pt x="3352800" y="357123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82700"/>
            <a:ext cx="646430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55" dirty="0"/>
              <a:t>Real-</a:t>
            </a:r>
            <a:r>
              <a:rPr spc="-175" dirty="0"/>
              <a:t>World</a:t>
            </a:r>
            <a:r>
              <a:rPr spc="-345" dirty="0"/>
              <a:t> </a:t>
            </a:r>
            <a:r>
              <a:rPr spc="-229" dirty="0"/>
              <a:t>Impact:</a:t>
            </a:r>
            <a:r>
              <a:rPr spc="-340" dirty="0"/>
              <a:t> </a:t>
            </a:r>
            <a:r>
              <a:rPr spc="-280" dirty="0"/>
              <a:t>The</a:t>
            </a:r>
            <a:r>
              <a:rPr spc="-340" dirty="0"/>
              <a:t> </a:t>
            </a:r>
            <a:r>
              <a:rPr spc="-185" dirty="0"/>
              <a:t>Cost</a:t>
            </a:r>
            <a:r>
              <a:rPr spc="-340" dirty="0"/>
              <a:t> </a:t>
            </a:r>
            <a:r>
              <a:rPr spc="-50" dirty="0"/>
              <a:t>of </a:t>
            </a:r>
            <a:r>
              <a:rPr spc="-114" dirty="0"/>
              <a:t>Neglect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520" y="2621914"/>
            <a:ext cx="2326005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spc="-25" dirty="0">
                <a:solidFill>
                  <a:srgbClr val="51586B"/>
                </a:solidFill>
                <a:latin typeface="Arial Black"/>
                <a:cs typeface="Arial Black"/>
              </a:rPr>
              <a:t>OOM</a:t>
            </a:r>
            <a:endParaRPr sz="44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Crashes</a:t>
            </a:r>
            <a:endParaRPr sz="1650">
              <a:latin typeface="Arial Black"/>
              <a:cs typeface="Arial Black"/>
            </a:endParaRPr>
          </a:p>
          <a:p>
            <a:pPr marL="12065" marR="5080" algn="ctr">
              <a:lnSpc>
                <a:spcPct val="134300"/>
              </a:lnSpc>
              <a:spcBef>
                <a:spcPts val="464"/>
              </a:spcBef>
            </a:pPr>
            <a:r>
              <a:rPr sz="1350" spc="-130" dirty="0">
                <a:solidFill>
                  <a:srgbClr val="51586B"/>
                </a:solidFill>
                <a:latin typeface="Verdana"/>
                <a:cs typeface="Verdana"/>
              </a:rPr>
              <a:t>Out-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of-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sz="1350" spc="-4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exceptions</a:t>
            </a:r>
            <a:r>
              <a:rPr sz="1350" spc="-45" dirty="0">
                <a:solidFill>
                  <a:srgbClr val="51586B"/>
                </a:solidFill>
                <a:latin typeface="Verdana"/>
                <a:cs typeface="Verdana"/>
              </a:rPr>
              <a:t> kill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processes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7225" y="2621914"/>
            <a:ext cx="2310130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spc="-300" dirty="0">
                <a:solidFill>
                  <a:srgbClr val="51586B"/>
                </a:solidFill>
                <a:latin typeface="Arial Black"/>
                <a:cs typeface="Arial Black"/>
              </a:rPr>
              <a:t>DOWN&amp;</a:t>
            </a:r>
            <a:endParaRPr sz="4450">
              <a:latin typeface="Arial Black"/>
              <a:cs typeface="Arial Black"/>
            </a:endParaRPr>
          </a:p>
          <a:p>
            <a:pPr marL="17145" marR="41275" algn="ctr">
              <a:lnSpc>
                <a:spcPct val="142900"/>
              </a:lnSpc>
              <a:spcBef>
                <a:spcPts val="585"/>
              </a:spcBef>
            </a:pPr>
            <a:r>
              <a:rPr sz="1650" spc="-120" dirty="0">
                <a:solidFill>
                  <a:srgbClr val="51586B"/>
                </a:solidFill>
                <a:latin typeface="Arial Black"/>
                <a:cs typeface="Arial Black"/>
              </a:rPr>
              <a:t>Service </a:t>
            </a:r>
            <a:r>
              <a:rPr sz="1650" spc="-90" dirty="0">
                <a:solidFill>
                  <a:srgbClr val="51586B"/>
                </a:solidFill>
                <a:latin typeface="Arial Black"/>
                <a:cs typeface="Arial Black"/>
              </a:rPr>
              <a:t>Unavailability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Users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can't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access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critical functionality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1083" y="2621914"/>
            <a:ext cx="2108835" cy="2016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spc="-295" dirty="0">
                <a:solidFill>
                  <a:srgbClr val="51586B"/>
                </a:solidFill>
                <a:latin typeface="Arial Black"/>
                <a:cs typeface="Arial Black"/>
              </a:rPr>
              <a:t>SLOW</a:t>
            </a:r>
            <a:endParaRPr sz="4450">
              <a:latin typeface="Arial Black"/>
              <a:cs typeface="Arial Black"/>
            </a:endParaRPr>
          </a:p>
          <a:p>
            <a:pPr marL="376555" marR="368935" algn="ctr">
              <a:lnSpc>
                <a:spcPct val="106100"/>
              </a:lnSpc>
              <a:spcBef>
                <a:spcPts val="1315"/>
              </a:spcBef>
            </a:pPr>
            <a:r>
              <a:rPr sz="1650" spc="-90" dirty="0">
                <a:solidFill>
                  <a:srgbClr val="51586B"/>
                </a:solidFill>
                <a:latin typeface="Arial Black"/>
                <a:cs typeface="Arial Black"/>
              </a:rPr>
              <a:t>Performance </a:t>
            </a:r>
            <a:r>
              <a:rPr sz="1650" spc="-40" dirty="0">
                <a:solidFill>
                  <a:srgbClr val="51586B"/>
                </a:solidFill>
                <a:latin typeface="Arial Black"/>
                <a:cs typeface="Arial Black"/>
              </a:rPr>
              <a:t>Degradation</a:t>
            </a:r>
            <a:endParaRPr sz="1650">
              <a:latin typeface="Arial Black"/>
              <a:cs typeface="Arial Black"/>
            </a:endParaRPr>
          </a:p>
          <a:p>
            <a:pPr marL="12700" marR="5080" algn="ctr">
              <a:lnSpc>
                <a:spcPct val="134300"/>
              </a:lnSpc>
              <a:spcBef>
                <a:spcPts val="459"/>
              </a:spcBef>
            </a:pP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Latency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increases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frustrate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users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370" y="4873625"/>
            <a:ext cx="71520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Even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minor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leaks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in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long-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running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applications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accumulate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over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time,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causing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1586B"/>
                </a:solidFill>
                <a:latin typeface="Verdana"/>
                <a:cs typeface="Verdana"/>
              </a:rPr>
              <a:t>major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1586B"/>
                </a:solidFill>
                <a:latin typeface="Verdana"/>
                <a:cs typeface="Verdana"/>
              </a:rPr>
              <a:t>problems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51559" y="4353"/>
            <a:ext cx="2886710" cy="6444615"/>
            <a:chOff x="8551559" y="4353"/>
            <a:chExt cx="2886710" cy="6444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59800" y="12594"/>
              <a:ext cx="2870200" cy="6428105"/>
            </a:xfrm>
            <a:custGeom>
              <a:avLst/>
              <a:gdLst/>
              <a:ahLst/>
              <a:cxnLst/>
              <a:rect l="l" t="t" r="r" b="b"/>
              <a:pathLst>
                <a:path w="2870200" h="6428105">
                  <a:moveTo>
                    <a:pt x="28702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70200" y="6427829"/>
                  </a:lnTo>
                  <a:lnTo>
                    <a:pt x="287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59800" y="12594"/>
              <a:ext cx="2870200" cy="6428105"/>
            </a:xfrm>
            <a:custGeom>
              <a:avLst/>
              <a:gdLst/>
              <a:ahLst/>
              <a:cxnLst/>
              <a:rect l="l" t="t" r="r" b="b"/>
              <a:pathLst>
                <a:path w="2870200" h="6428105">
                  <a:moveTo>
                    <a:pt x="28702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70200" y="6427829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625475"/>
            <a:ext cx="704723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280" dirty="0"/>
              <a:t>The</a:t>
            </a:r>
            <a:r>
              <a:rPr spc="-340" dirty="0"/>
              <a:t> </a:t>
            </a:r>
            <a:r>
              <a:rPr spc="-195" dirty="0"/>
              <a:t>Memory</a:t>
            </a:r>
            <a:r>
              <a:rPr spc="-340" dirty="0"/>
              <a:t> </a:t>
            </a:r>
            <a:r>
              <a:rPr spc="-240" dirty="0"/>
              <a:t>Profiler</a:t>
            </a:r>
            <a:r>
              <a:rPr spc="-335" dirty="0"/>
              <a:t> </a:t>
            </a:r>
            <a:r>
              <a:rPr spc="-220" dirty="0"/>
              <a:t>Advantage:</a:t>
            </a:r>
            <a:r>
              <a:rPr spc="-340" dirty="0"/>
              <a:t> </a:t>
            </a:r>
            <a:r>
              <a:rPr spc="-50" dirty="0"/>
              <a:t>A </a:t>
            </a:r>
            <a:r>
              <a:rPr spc="-220" dirty="0"/>
              <a:t>Clearer</a:t>
            </a:r>
            <a:r>
              <a:rPr spc="-350" dirty="0"/>
              <a:t> </a:t>
            </a:r>
            <a:r>
              <a:rPr spc="-180" dirty="0"/>
              <a:t>Path</a:t>
            </a:r>
            <a:r>
              <a:rPr spc="-345" dirty="0"/>
              <a:t> </a:t>
            </a:r>
            <a:r>
              <a:rPr spc="-80" dirty="0"/>
              <a:t>Forward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5" y="1971674"/>
            <a:ext cx="3600450" cy="1962150"/>
            <a:chOff x="600075" y="1971674"/>
            <a:chExt cx="3600450" cy="1962150"/>
          </a:xfrm>
        </p:grpSpPr>
        <p:sp>
          <p:nvSpPr>
            <p:cNvPr id="5" name="object 5"/>
            <p:cNvSpPr/>
            <p:nvPr/>
          </p:nvSpPr>
          <p:spPr>
            <a:xfrm>
              <a:off x="6048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35393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7" y="1939010"/>
                  </a:lnTo>
                  <a:lnTo>
                    <a:pt x="51619" y="1952625"/>
                  </a:lnTo>
                  <a:lnTo>
                    <a:pt x="3539312" y="1952625"/>
                  </a:lnTo>
                  <a:lnTo>
                    <a:pt x="3577310" y="1933879"/>
                  </a:lnTo>
                  <a:lnTo>
                    <a:pt x="3590925" y="19010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86721" y="34099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897380"/>
                  </a:lnTo>
                  <a:lnTo>
                    <a:pt x="3590925" y="1901012"/>
                  </a:lnTo>
                  <a:lnTo>
                    <a:pt x="3590569" y="1904593"/>
                  </a:lnTo>
                  <a:lnTo>
                    <a:pt x="3589858" y="1908162"/>
                  </a:lnTo>
                  <a:lnTo>
                    <a:pt x="3589159" y="1911718"/>
                  </a:lnTo>
                  <a:lnTo>
                    <a:pt x="3566375" y="1943315"/>
                  </a:lnTo>
                  <a:lnTo>
                    <a:pt x="3546449" y="1951558"/>
                  </a:lnTo>
                  <a:lnTo>
                    <a:pt x="3542893" y="1952269"/>
                  </a:lnTo>
                  <a:lnTo>
                    <a:pt x="3539312" y="1952625"/>
                  </a:lnTo>
                  <a:lnTo>
                    <a:pt x="3535680" y="1952625"/>
                  </a:lnTo>
                  <a:lnTo>
                    <a:pt x="55245" y="1952625"/>
                  </a:lnTo>
                  <a:lnTo>
                    <a:pt x="51619" y="1952625"/>
                  </a:lnTo>
                  <a:lnTo>
                    <a:pt x="48026" y="1952269"/>
                  </a:lnTo>
                  <a:lnTo>
                    <a:pt x="44465" y="1951558"/>
                  </a:lnTo>
                  <a:lnTo>
                    <a:pt x="40907" y="1950859"/>
                  </a:lnTo>
                  <a:lnTo>
                    <a:pt x="9311" y="1928063"/>
                  </a:lnTo>
                  <a:lnTo>
                    <a:pt x="7292" y="1925053"/>
                  </a:lnTo>
                  <a:lnTo>
                    <a:pt x="5590" y="1921878"/>
                  </a:lnTo>
                  <a:lnTo>
                    <a:pt x="4207" y="1918525"/>
                  </a:lnTo>
                  <a:lnTo>
                    <a:pt x="2818" y="1915172"/>
                  </a:lnTo>
                  <a:lnTo>
                    <a:pt x="1771" y="1911718"/>
                  </a:lnTo>
                  <a:lnTo>
                    <a:pt x="1061" y="1908162"/>
                  </a:lnTo>
                  <a:lnTo>
                    <a:pt x="351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50" y="2152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007" y="2280753"/>
              <a:ext cx="207491" cy="24177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8350" y="2830512"/>
            <a:ext cx="300482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5" dirty="0">
                <a:solidFill>
                  <a:srgbClr val="51586B"/>
                </a:solidFill>
                <a:latin typeface="Arial Black"/>
                <a:cs typeface="Arial Black"/>
              </a:rPr>
              <a:t>Guided</a:t>
            </a:r>
            <a:r>
              <a:rPr sz="1650" spc="-13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Analysis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Detailed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walkthroughs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help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1586B"/>
                </a:solidFill>
                <a:latin typeface="Verdana"/>
                <a:cs typeface="Verdana"/>
              </a:rPr>
              <a:t>developers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understand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sz="1350" spc="-9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management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1975" y="1971674"/>
            <a:ext cx="3600450" cy="1962150"/>
            <a:chOff x="4371975" y="1971674"/>
            <a:chExt cx="3600450" cy="1962150"/>
          </a:xfrm>
        </p:grpSpPr>
        <p:sp>
          <p:nvSpPr>
            <p:cNvPr id="11" name="object 11"/>
            <p:cNvSpPr/>
            <p:nvPr/>
          </p:nvSpPr>
          <p:spPr>
            <a:xfrm>
              <a:off x="43767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35393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5" y="1939010"/>
                  </a:lnTo>
                  <a:lnTo>
                    <a:pt x="51612" y="1952625"/>
                  </a:lnTo>
                  <a:lnTo>
                    <a:pt x="3539312" y="1952625"/>
                  </a:lnTo>
                  <a:lnTo>
                    <a:pt x="3577310" y="1933879"/>
                  </a:lnTo>
                  <a:lnTo>
                    <a:pt x="3590925" y="19010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67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897380"/>
                  </a:lnTo>
                  <a:lnTo>
                    <a:pt x="3590925" y="1901012"/>
                  </a:lnTo>
                  <a:lnTo>
                    <a:pt x="3590569" y="1904593"/>
                  </a:lnTo>
                  <a:lnTo>
                    <a:pt x="3589858" y="1908162"/>
                  </a:lnTo>
                  <a:lnTo>
                    <a:pt x="3589159" y="1911718"/>
                  </a:lnTo>
                  <a:lnTo>
                    <a:pt x="3574745" y="1936445"/>
                  </a:lnTo>
                  <a:lnTo>
                    <a:pt x="3572179" y="1939010"/>
                  </a:lnTo>
                  <a:lnTo>
                    <a:pt x="3546449" y="1951558"/>
                  </a:lnTo>
                  <a:lnTo>
                    <a:pt x="3542893" y="1952269"/>
                  </a:lnTo>
                  <a:lnTo>
                    <a:pt x="3539312" y="1952625"/>
                  </a:lnTo>
                  <a:lnTo>
                    <a:pt x="3535680" y="1952625"/>
                  </a:lnTo>
                  <a:lnTo>
                    <a:pt x="55245" y="1952625"/>
                  </a:lnTo>
                  <a:lnTo>
                    <a:pt x="51612" y="1952625"/>
                  </a:lnTo>
                  <a:lnTo>
                    <a:pt x="48031" y="1952269"/>
                  </a:lnTo>
                  <a:lnTo>
                    <a:pt x="44462" y="1951558"/>
                  </a:lnTo>
                  <a:lnTo>
                    <a:pt x="40906" y="1950859"/>
                  </a:lnTo>
                  <a:lnTo>
                    <a:pt x="9309" y="1928063"/>
                  </a:lnTo>
                  <a:lnTo>
                    <a:pt x="7289" y="1925053"/>
                  </a:lnTo>
                  <a:lnTo>
                    <a:pt x="1066" y="1908162"/>
                  </a:lnTo>
                  <a:lnTo>
                    <a:pt x="355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52950" y="2152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2221" y="2280873"/>
              <a:ext cx="238638" cy="24168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540250" y="2830512"/>
            <a:ext cx="3227705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Retained</a:t>
            </a:r>
            <a:r>
              <a:rPr sz="1650" spc="-13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0" dirty="0">
                <a:solidFill>
                  <a:srgbClr val="51586B"/>
                </a:solidFill>
                <a:latin typeface="Arial Black"/>
                <a:cs typeface="Arial Black"/>
              </a:rPr>
              <a:t>Object</a:t>
            </a:r>
            <a:r>
              <a:rPr sz="1650" spc="-130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Inspection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105" dirty="0">
                <a:solidFill>
                  <a:srgbClr val="51586B"/>
                </a:solidFill>
                <a:latin typeface="Verdana"/>
                <a:cs typeface="Verdana"/>
              </a:rPr>
              <a:t>Examine 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allocation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call</a:t>
            </a:r>
            <a:r>
              <a:rPr sz="1350" spc="-10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1586B"/>
                </a:solidFill>
                <a:latin typeface="Verdana"/>
                <a:cs typeface="Verdana"/>
              </a:rPr>
              <a:t>stacks </a:t>
            </a:r>
            <a:r>
              <a:rPr sz="1350" spc="-10" dirty="0">
                <a:solidFill>
                  <a:srgbClr val="51586B"/>
                </a:solidFill>
                <a:latin typeface="Verdana"/>
                <a:cs typeface="Verdana"/>
              </a:rPr>
              <a:t>efficiently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0075" y="4105275"/>
            <a:ext cx="7372350" cy="1695450"/>
            <a:chOff x="600075" y="4105275"/>
            <a:chExt cx="7372350" cy="1695450"/>
          </a:xfrm>
        </p:grpSpPr>
        <p:sp>
          <p:nvSpPr>
            <p:cNvPr id="17" name="object 17"/>
            <p:cNvSpPr/>
            <p:nvPr/>
          </p:nvSpPr>
          <p:spPr>
            <a:xfrm>
              <a:off x="604837" y="4110037"/>
              <a:ext cx="7362825" cy="1685925"/>
            </a:xfrm>
            <a:custGeom>
              <a:avLst/>
              <a:gdLst/>
              <a:ahLst/>
              <a:cxnLst/>
              <a:rect l="l" t="t" r="r" b="b"/>
              <a:pathLst>
                <a:path w="7362825" h="1685925">
                  <a:moveTo>
                    <a:pt x="73112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630681"/>
                  </a:lnTo>
                  <a:lnTo>
                    <a:pt x="0" y="1634307"/>
                  </a:lnTo>
                  <a:lnTo>
                    <a:pt x="18747" y="1672308"/>
                  </a:lnTo>
                  <a:lnTo>
                    <a:pt x="51619" y="1685926"/>
                  </a:lnTo>
                  <a:lnTo>
                    <a:pt x="7311212" y="1685926"/>
                  </a:lnTo>
                  <a:lnTo>
                    <a:pt x="7349210" y="1667178"/>
                  </a:lnTo>
                  <a:lnTo>
                    <a:pt x="7362825" y="1634307"/>
                  </a:lnTo>
                  <a:lnTo>
                    <a:pt x="7362825" y="51612"/>
                  </a:lnTo>
                  <a:lnTo>
                    <a:pt x="7344079" y="13614"/>
                  </a:lnTo>
                  <a:lnTo>
                    <a:pt x="7314793" y="355"/>
                  </a:lnTo>
                  <a:lnTo>
                    <a:pt x="73112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37" y="4110037"/>
              <a:ext cx="7362825" cy="1685925"/>
            </a:xfrm>
            <a:custGeom>
              <a:avLst/>
              <a:gdLst/>
              <a:ahLst/>
              <a:cxnLst/>
              <a:rect l="l" t="t" r="r" b="b"/>
              <a:pathLst>
                <a:path w="7362825" h="1685925">
                  <a:moveTo>
                    <a:pt x="0" y="16306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7307580" y="0"/>
                  </a:lnTo>
                  <a:lnTo>
                    <a:pt x="7311212" y="0"/>
                  </a:lnTo>
                  <a:lnTo>
                    <a:pt x="7314793" y="355"/>
                  </a:lnTo>
                  <a:lnTo>
                    <a:pt x="7318349" y="1066"/>
                  </a:lnTo>
                  <a:lnTo>
                    <a:pt x="7321918" y="1765"/>
                  </a:lnTo>
                  <a:lnTo>
                    <a:pt x="7325372" y="2819"/>
                  </a:lnTo>
                  <a:lnTo>
                    <a:pt x="7328712" y="4203"/>
                  </a:lnTo>
                  <a:lnTo>
                    <a:pt x="7332078" y="5588"/>
                  </a:lnTo>
                  <a:lnTo>
                    <a:pt x="7346645" y="16179"/>
                  </a:lnTo>
                  <a:lnTo>
                    <a:pt x="7349210" y="18745"/>
                  </a:lnTo>
                  <a:lnTo>
                    <a:pt x="7361758" y="44462"/>
                  </a:lnTo>
                  <a:lnTo>
                    <a:pt x="7362469" y="48018"/>
                  </a:lnTo>
                  <a:lnTo>
                    <a:pt x="7362825" y="51612"/>
                  </a:lnTo>
                  <a:lnTo>
                    <a:pt x="7362825" y="55245"/>
                  </a:lnTo>
                  <a:lnTo>
                    <a:pt x="7362825" y="1630681"/>
                  </a:lnTo>
                  <a:lnTo>
                    <a:pt x="7362825" y="1634307"/>
                  </a:lnTo>
                  <a:lnTo>
                    <a:pt x="7362469" y="1637898"/>
                  </a:lnTo>
                  <a:lnTo>
                    <a:pt x="7361758" y="1641455"/>
                  </a:lnTo>
                  <a:lnTo>
                    <a:pt x="7361059" y="1645013"/>
                  </a:lnTo>
                  <a:lnTo>
                    <a:pt x="7338276" y="1676614"/>
                  </a:lnTo>
                  <a:lnTo>
                    <a:pt x="7328712" y="1681718"/>
                  </a:lnTo>
                  <a:lnTo>
                    <a:pt x="7325372" y="1683108"/>
                  </a:lnTo>
                  <a:lnTo>
                    <a:pt x="7321918" y="1684154"/>
                  </a:lnTo>
                  <a:lnTo>
                    <a:pt x="7318349" y="1684864"/>
                  </a:lnTo>
                  <a:lnTo>
                    <a:pt x="7314793" y="1685569"/>
                  </a:lnTo>
                  <a:lnTo>
                    <a:pt x="7311212" y="1685926"/>
                  </a:lnTo>
                  <a:lnTo>
                    <a:pt x="7307580" y="1685926"/>
                  </a:lnTo>
                  <a:lnTo>
                    <a:pt x="55245" y="1685926"/>
                  </a:lnTo>
                  <a:lnTo>
                    <a:pt x="51619" y="1685926"/>
                  </a:lnTo>
                  <a:lnTo>
                    <a:pt x="48026" y="1685569"/>
                  </a:lnTo>
                  <a:lnTo>
                    <a:pt x="13618" y="1667178"/>
                  </a:lnTo>
                  <a:lnTo>
                    <a:pt x="9311" y="1661369"/>
                  </a:lnTo>
                  <a:lnTo>
                    <a:pt x="7292" y="1658353"/>
                  </a:lnTo>
                  <a:lnTo>
                    <a:pt x="5590" y="1655173"/>
                  </a:lnTo>
                  <a:lnTo>
                    <a:pt x="4207" y="1651819"/>
                  </a:lnTo>
                  <a:lnTo>
                    <a:pt x="2818" y="1648466"/>
                  </a:lnTo>
                  <a:lnTo>
                    <a:pt x="1771" y="1645013"/>
                  </a:lnTo>
                  <a:lnTo>
                    <a:pt x="1061" y="1641455"/>
                  </a:lnTo>
                  <a:lnTo>
                    <a:pt x="351" y="1637898"/>
                  </a:lnTo>
                  <a:lnTo>
                    <a:pt x="0" y="1634307"/>
                  </a:lnTo>
                  <a:lnTo>
                    <a:pt x="0" y="1630681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1050" y="42862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608" y="4423999"/>
              <a:ext cx="132061" cy="24168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8350" y="4964113"/>
            <a:ext cx="409194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5" dirty="0">
                <a:solidFill>
                  <a:srgbClr val="51586B"/>
                </a:solidFill>
                <a:latin typeface="Arial Black"/>
                <a:cs typeface="Arial Black"/>
              </a:rPr>
              <a:t>Robust</a:t>
            </a:r>
            <a:r>
              <a:rPr sz="1650" spc="-155" dirty="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1586B"/>
                </a:solidFill>
                <a:latin typeface="Arial Black"/>
                <a:cs typeface="Arial Black"/>
              </a:rPr>
              <a:t>Applications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85" dirty="0">
                <a:solidFill>
                  <a:srgbClr val="51586B"/>
                </a:solidFill>
                <a:latin typeface="Verdana"/>
                <a:cs typeface="Verdana"/>
              </a:rPr>
              <a:t>Resolve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issues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ensuring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1586B"/>
                </a:solidFill>
                <a:latin typeface="Verdana"/>
                <a:cs typeface="Verdana"/>
              </a:rPr>
              <a:t>performant,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1586B"/>
                </a:solidFill>
                <a:latin typeface="Verdana"/>
                <a:cs typeface="Verdana"/>
              </a:rPr>
              <a:t>reliable</a:t>
            </a:r>
            <a:r>
              <a:rPr sz="1350" spc="-80" dirty="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1586B"/>
                </a:solidFill>
                <a:latin typeface="Verdana"/>
                <a:cs typeface="Verdana"/>
              </a:rPr>
              <a:t>systems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564259" y="4353"/>
            <a:ext cx="2874010" cy="6444615"/>
            <a:chOff x="8564259" y="4353"/>
            <a:chExt cx="2874010" cy="644461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572500" y="12594"/>
              <a:ext cx="2857500" cy="6428105"/>
            </a:xfrm>
            <a:custGeom>
              <a:avLst/>
              <a:gdLst/>
              <a:ahLst/>
              <a:cxnLst/>
              <a:rect l="l" t="t" r="r" b="b"/>
              <a:pathLst>
                <a:path w="2857500" h="6428105">
                  <a:moveTo>
                    <a:pt x="28575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57500" y="6427829"/>
                  </a:lnTo>
                  <a:lnTo>
                    <a:pt x="2857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72500" y="12594"/>
              <a:ext cx="2857500" cy="6428105"/>
            </a:xfrm>
            <a:custGeom>
              <a:avLst/>
              <a:gdLst/>
              <a:ahLst/>
              <a:cxnLst/>
              <a:rect l="l" t="t" r="r" b="b"/>
              <a:pathLst>
                <a:path w="2857500" h="6428105">
                  <a:moveTo>
                    <a:pt x="28575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57500" y="6427829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402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Black</vt:lpstr>
      <vt:lpstr>Calibri</vt:lpstr>
      <vt:lpstr>Tahoma</vt:lpstr>
      <vt:lpstr>Trebuchet MS</vt:lpstr>
      <vt:lpstr>Verdana</vt:lpstr>
      <vt:lpstr>Office Theme</vt:lpstr>
      <vt:lpstr>Memory Usage Profiler &amp; Leak Detector</vt:lpstr>
      <vt:lpstr>Kaushik – 2420030422 Rishiwan – 2420030762 Ritheesh – 2420030761 Dhanush - 2420090042</vt:lpstr>
      <vt:lpstr>The Silent Killer: Why Memory Leaks Matter</vt:lpstr>
      <vt:lpstr>Understanding the V8 Heap: Where Leaks Live</vt:lpstr>
      <vt:lpstr>Detecting the Leak: The Diagnostic Stack</vt:lpstr>
      <vt:lpstr>Tools of the Trade: Heap Snapshots</vt:lpstr>
      <vt:lpstr>Common Leak Patterns in Node.js</vt:lpstr>
      <vt:lpstr>Proactive Memory Management: Beyond Restarting</vt:lpstr>
      <vt:lpstr>Real-World Impact: The Cost of Neglect</vt:lpstr>
      <vt:lpstr>The Memory Profiler Advantage: A Clearer Path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Kaushik Donthula</dc:creator>
  <cp:lastModifiedBy>Kaushik Donthula</cp:lastModifiedBy>
  <cp:revision>2</cp:revision>
  <dcterms:created xsi:type="dcterms:W3CDTF">2026-03-31T05:21:19Z</dcterms:created>
  <dcterms:modified xsi:type="dcterms:W3CDTF">2026-04-28T06:38:01Z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2026-03-31T00:00:00Z</vt:filetime>
  </property>
  <property fmtid="{D5CDD505-2E9C-101B-9397-08002B2CF9AE}" pid="5" name="Producer">
    <vt:lpwstr>3.0.32 (5.1.19) </vt:lpwstr>
  </property>
</Properties>
</file>